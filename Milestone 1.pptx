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74" r:id="rId3"/>
    <p:sldId id="272" r:id="rId4"/>
    <p:sldId id="273" r:id="rId5"/>
    <p:sldId id="264" r:id="rId6"/>
    <p:sldId id="275" r:id="rId7"/>
    <p:sldId id="277" r:id="rId8"/>
    <p:sldId id="27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E0EF"/>
    <a:srgbClr val="00B4D8"/>
    <a:srgbClr val="02045E"/>
    <a:srgbClr val="0150E0"/>
    <a:srgbClr val="F9EFE3"/>
    <a:srgbClr val="1F45E5"/>
    <a:srgbClr val="FF99A4"/>
    <a:srgbClr val="30E58C"/>
    <a:srgbClr val="FFCC00"/>
    <a:srgbClr val="FBE6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18542C-6B23-BD4A-B26A-1294E9328012}" v="26" dt="2026-05-11T22:25:53.008"/>
    <p1510:client id="{125F06AE-C8D5-AF51-43B7-8986239357CE}" v="102" dt="2026-05-13T08:22:54.482"/>
    <p1510:client id="{3EA370EB-C265-68A7-3EFB-1725B3CDF1EC}" v="365" dt="2026-05-13T06:36:15.164"/>
    <p1510:client id="{760618CA-721D-EE23-0FDB-C87FF0052C26}" v="244" dt="2026-05-13T07:24:41.849"/>
    <p1510:client id="{D6F3CC49-6AE9-1F74-BD9F-D2257BE809D0}" v="139" dt="2026-05-13T07:38:50.0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30AA2E-6D1E-D1BA-BEB0-4683558217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noProof="0">
                <a:solidFill>
                  <a:srgbClr val="1F45E5"/>
                </a:solidFill>
              </a:rPr>
              <a:t>Milestone 1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632CC95-1A2D-FF4F-7BD4-E9E8905728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noProof="0"/>
              <a:t>Team 2 (Zhenbo Gao, Baran Kiliç, Ben Garbe)</a:t>
            </a:r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90167CA7-9A42-D469-51A3-50AE0DAE3DF7}"/>
              </a:ext>
            </a:extLst>
          </p:cNvPr>
          <p:cNvSpPr/>
          <p:nvPr/>
        </p:nvSpPr>
        <p:spPr>
          <a:xfrm>
            <a:off x="5691388" y="5994473"/>
            <a:ext cx="1059729" cy="863526"/>
          </a:xfrm>
          <a:custGeom>
            <a:avLst/>
            <a:gdLst>
              <a:gd name="csX0" fmla="*/ 245733 w 1059729"/>
              <a:gd name="csY0" fmla="*/ 195 h 863526"/>
              <a:gd name="csX1" fmla="*/ 507414 w 1059729"/>
              <a:gd name="csY1" fmla="*/ 145604 h 863526"/>
              <a:gd name="csX2" fmla="*/ 1059729 w 1059729"/>
              <a:gd name="csY2" fmla="*/ 863526 h 863526"/>
              <a:gd name="csX3" fmla="*/ 380114 w 1059729"/>
              <a:gd name="csY3" fmla="*/ 863526 h 863526"/>
              <a:gd name="csX4" fmla="*/ 80482 w 1059729"/>
              <a:gd name="csY4" fmla="*/ 474053 h 863526"/>
              <a:gd name="csX5" fmla="*/ 91864 w 1059729"/>
              <a:gd name="csY5" fmla="*/ 47152 h 863526"/>
              <a:gd name="csX6" fmla="*/ 245733 w 1059729"/>
              <a:gd name="csY6" fmla="*/ 195 h 8635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59729" h="863526">
                <a:moveTo>
                  <a:pt x="245733" y="195"/>
                </a:moveTo>
                <a:cubicBezTo>
                  <a:pt x="338833" y="3719"/>
                  <a:pt x="437666" y="54942"/>
                  <a:pt x="507414" y="145604"/>
                </a:cubicBezTo>
                <a:lnTo>
                  <a:pt x="1059729" y="863526"/>
                </a:lnTo>
                <a:lnTo>
                  <a:pt x="380114" y="863526"/>
                </a:lnTo>
                <a:lnTo>
                  <a:pt x="80482" y="474053"/>
                </a:lnTo>
                <a:cubicBezTo>
                  <a:pt x="-31115" y="328995"/>
                  <a:pt x="-26036" y="137855"/>
                  <a:pt x="91864" y="47152"/>
                </a:cubicBezTo>
                <a:cubicBezTo>
                  <a:pt x="136077" y="13138"/>
                  <a:pt x="189873" y="-1920"/>
                  <a:pt x="245733" y="195"/>
                </a:cubicBezTo>
                <a:close/>
              </a:path>
            </a:pathLst>
          </a:custGeom>
          <a:solidFill>
            <a:srgbClr val="90E0E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F3DCD444-1B4D-DF27-4001-5589119BB7BD}"/>
              </a:ext>
            </a:extLst>
          </p:cNvPr>
          <p:cNvSpPr/>
          <p:nvPr/>
        </p:nvSpPr>
        <p:spPr>
          <a:xfrm>
            <a:off x="0" y="5540744"/>
            <a:ext cx="977408" cy="814132"/>
          </a:xfrm>
          <a:custGeom>
            <a:avLst/>
            <a:gdLst>
              <a:gd name="csX0" fmla="*/ 0 w 977408"/>
              <a:gd name="csY0" fmla="*/ 0 h 814132"/>
              <a:gd name="csX1" fmla="*/ 748707 w 977408"/>
              <a:gd name="csY1" fmla="*/ 284369 h 814132"/>
              <a:gd name="csX2" fmla="*/ 962900 w 977408"/>
              <a:gd name="csY2" fmla="*/ 653822 h 814132"/>
              <a:gd name="csX3" fmla="*/ 557449 w 977408"/>
              <a:gd name="csY3" fmla="*/ 787926 h 814132"/>
              <a:gd name="csX4" fmla="*/ 0 w 977408"/>
              <a:gd name="csY4" fmla="*/ 576199 h 8141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7408" h="814132">
                <a:moveTo>
                  <a:pt x="0" y="0"/>
                </a:moveTo>
                <a:lnTo>
                  <a:pt x="748707" y="284369"/>
                </a:lnTo>
                <a:cubicBezTo>
                  <a:pt x="919800" y="349353"/>
                  <a:pt x="1015717" y="514761"/>
                  <a:pt x="962900" y="653822"/>
                </a:cubicBezTo>
                <a:cubicBezTo>
                  <a:pt x="910082" y="792883"/>
                  <a:pt x="728542" y="852910"/>
                  <a:pt x="557449" y="787926"/>
                </a:cubicBezTo>
                <a:lnTo>
                  <a:pt x="0" y="576199"/>
                </a:lnTo>
                <a:close/>
              </a:path>
            </a:pathLst>
          </a:custGeom>
          <a:solidFill>
            <a:srgbClr val="00B4D8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F551CD08-B425-B19D-F29A-9D14E1DECABB}"/>
              </a:ext>
            </a:extLst>
          </p:cNvPr>
          <p:cNvGrpSpPr/>
          <p:nvPr/>
        </p:nvGrpSpPr>
        <p:grpSpPr>
          <a:xfrm>
            <a:off x="8077896" y="1"/>
            <a:ext cx="1066105" cy="1061547"/>
            <a:chOff x="8077896" y="1"/>
            <a:chExt cx="1066105" cy="1061547"/>
          </a:xfrm>
        </p:grpSpPr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B337CF34-8C47-AF0C-2735-812206287EDC}"/>
                </a:ext>
              </a:extLst>
            </p:cNvPr>
            <p:cNvSpPr/>
            <p:nvPr/>
          </p:nvSpPr>
          <p:spPr>
            <a:xfrm>
              <a:off x="8077896" y="1"/>
              <a:ext cx="1066104" cy="1061547"/>
            </a:xfrm>
            <a:custGeom>
              <a:avLst/>
              <a:gdLst>
                <a:gd name="csX0" fmla="*/ 31278 w 1066104"/>
                <a:gd name="csY0" fmla="*/ 0 h 1061547"/>
                <a:gd name="csX1" fmla="*/ 1066104 w 1066104"/>
                <a:gd name="csY1" fmla="*/ 0 h 1061547"/>
                <a:gd name="csX2" fmla="*/ 1066104 w 1066104"/>
                <a:gd name="csY2" fmla="*/ 1048005 h 1061547"/>
                <a:gd name="csX3" fmla="*/ 1002100 w 1066104"/>
                <a:gd name="csY3" fmla="*/ 1057152 h 1061547"/>
                <a:gd name="csX4" fmla="*/ 909145 w 1066104"/>
                <a:gd name="csY4" fmla="*/ 1061547 h 1061547"/>
                <a:gd name="csX5" fmla="*/ 0 w 1066104"/>
                <a:gd name="csY5" fmla="*/ 210209 h 1061547"/>
                <a:gd name="csX6" fmla="*/ 18471 w 1066104"/>
                <a:gd name="csY6" fmla="*/ 38635 h 10615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066104" h="1061547">
                  <a:moveTo>
                    <a:pt x="31278" y="0"/>
                  </a:moveTo>
                  <a:lnTo>
                    <a:pt x="1066104" y="0"/>
                  </a:lnTo>
                  <a:lnTo>
                    <a:pt x="1066104" y="1048005"/>
                  </a:lnTo>
                  <a:lnTo>
                    <a:pt x="1002100" y="1057152"/>
                  </a:lnTo>
                  <a:cubicBezTo>
                    <a:pt x="971537" y="1060058"/>
                    <a:pt x="940527" y="1061547"/>
                    <a:pt x="909145" y="1061547"/>
                  </a:cubicBezTo>
                  <a:cubicBezTo>
                    <a:pt x="407038" y="1061547"/>
                    <a:pt x="0" y="680390"/>
                    <a:pt x="0" y="210209"/>
                  </a:cubicBezTo>
                  <a:cubicBezTo>
                    <a:pt x="0" y="151437"/>
                    <a:pt x="6360" y="94055"/>
                    <a:pt x="18471" y="38635"/>
                  </a:cubicBezTo>
                  <a:close/>
                </a:path>
              </a:pathLst>
            </a:custGeom>
            <a:solidFill>
              <a:srgbClr val="02045E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/>
            </a:p>
          </p:txBody>
        </p:sp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888BB1B2-70BA-58E5-BD7A-40B1E1BAE62F}"/>
                </a:ext>
              </a:extLst>
            </p:cNvPr>
            <p:cNvSpPr/>
            <p:nvPr/>
          </p:nvSpPr>
          <p:spPr>
            <a:xfrm>
              <a:off x="8529842" y="1"/>
              <a:ext cx="614159" cy="667409"/>
            </a:xfrm>
            <a:custGeom>
              <a:avLst/>
              <a:gdLst>
                <a:gd name="csX0" fmla="*/ 53431 w 614159"/>
                <a:gd name="csY0" fmla="*/ 0 h 667409"/>
                <a:gd name="csX1" fmla="*/ 614159 w 614159"/>
                <a:gd name="csY1" fmla="*/ 0 h 667409"/>
                <a:gd name="csX2" fmla="*/ 614159 w 614159"/>
                <a:gd name="csY2" fmla="*/ 638000 h 667409"/>
                <a:gd name="csX3" fmla="*/ 549342 w 614159"/>
                <a:gd name="csY3" fmla="*/ 658121 h 667409"/>
                <a:gd name="csX4" fmla="*/ 457200 w 614159"/>
                <a:gd name="csY4" fmla="*/ 667409 h 667409"/>
                <a:gd name="csX5" fmla="*/ 0 w 614159"/>
                <a:gd name="csY5" fmla="*/ 210209 h 667409"/>
                <a:gd name="csX6" fmla="*/ 35929 w 614159"/>
                <a:gd name="csY6" fmla="*/ 32246 h 6674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14159" h="667409">
                  <a:moveTo>
                    <a:pt x="53431" y="0"/>
                  </a:moveTo>
                  <a:lnTo>
                    <a:pt x="614159" y="0"/>
                  </a:lnTo>
                  <a:lnTo>
                    <a:pt x="614159" y="638000"/>
                  </a:lnTo>
                  <a:lnTo>
                    <a:pt x="549342" y="658121"/>
                  </a:lnTo>
                  <a:cubicBezTo>
                    <a:pt x="519579" y="664211"/>
                    <a:pt x="488763" y="667409"/>
                    <a:pt x="457200" y="667409"/>
                  </a:cubicBezTo>
                  <a:cubicBezTo>
                    <a:pt x="204695" y="667409"/>
                    <a:pt x="0" y="462714"/>
                    <a:pt x="0" y="210209"/>
                  </a:cubicBezTo>
                  <a:cubicBezTo>
                    <a:pt x="0" y="147083"/>
                    <a:pt x="12793" y="86945"/>
                    <a:pt x="35929" y="32246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87B5AE1D-3554-00A2-5446-584A2D0E331A}"/>
              </a:ext>
            </a:extLst>
          </p:cNvPr>
          <p:cNvSpPr txBox="1">
            <a:spLocks/>
          </p:cNvSpPr>
          <p:nvPr/>
        </p:nvSpPr>
        <p:spPr>
          <a:xfrm>
            <a:off x="1" y="1"/>
            <a:ext cx="5101935" cy="274638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b="1" noProof="0"/>
              <a:t>13.05.2026</a:t>
            </a:r>
          </a:p>
        </p:txBody>
      </p:sp>
    </p:spTree>
    <p:extLst>
      <p:ext uri="{BB962C8B-B14F-4D97-AF65-F5344CB8AC3E}">
        <p14:creationId xmlns:p14="http://schemas.microsoft.com/office/powerpoint/2010/main" val="2344050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EBEA9-8B2C-7517-E246-5B5ECDBC2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ihandform 23">
            <a:extLst>
              <a:ext uri="{FF2B5EF4-FFF2-40B4-BE49-F238E27FC236}">
                <a16:creationId xmlns:a16="http://schemas.microsoft.com/office/drawing/2014/main" id="{3D9A44C1-CFC2-6FFF-99EA-1D0DA82C82D3}"/>
              </a:ext>
            </a:extLst>
          </p:cNvPr>
          <p:cNvSpPr/>
          <p:nvPr/>
        </p:nvSpPr>
        <p:spPr>
          <a:xfrm>
            <a:off x="5691388" y="5994473"/>
            <a:ext cx="1059729" cy="863526"/>
          </a:xfrm>
          <a:custGeom>
            <a:avLst/>
            <a:gdLst>
              <a:gd name="csX0" fmla="*/ 245733 w 1059729"/>
              <a:gd name="csY0" fmla="*/ 195 h 863526"/>
              <a:gd name="csX1" fmla="*/ 507414 w 1059729"/>
              <a:gd name="csY1" fmla="*/ 145604 h 863526"/>
              <a:gd name="csX2" fmla="*/ 1059729 w 1059729"/>
              <a:gd name="csY2" fmla="*/ 863526 h 863526"/>
              <a:gd name="csX3" fmla="*/ 380114 w 1059729"/>
              <a:gd name="csY3" fmla="*/ 863526 h 863526"/>
              <a:gd name="csX4" fmla="*/ 80482 w 1059729"/>
              <a:gd name="csY4" fmla="*/ 474053 h 863526"/>
              <a:gd name="csX5" fmla="*/ 91864 w 1059729"/>
              <a:gd name="csY5" fmla="*/ 47152 h 863526"/>
              <a:gd name="csX6" fmla="*/ 245733 w 1059729"/>
              <a:gd name="csY6" fmla="*/ 195 h 8635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59729" h="863526">
                <a:moveTo>
                  <a:pt x="245733" y="195"/>
                </a:moveTo>
                <a:cubicBezTo>
                  <a:pt x="338833" y="3719"/>
                  <a:pt x="437666" y="54942"/>
                  <a:pt x="507414" y="145604"/>
                </a:cubicBezTo>
                <a:lnTo>
                  <a:pt x="1059729" y="863526"/>
                </a:lnTo>
                <a:lnTo>
                  <a:pt x="380114" y="863526"/>
                </a:lnTo>
                <a:lnTo>
                  <a:pt x="80482" y="474053"/>
                </a:lnTo>
                <a:cubicBezTo>
                  <a:pt x="-31115" y="328995"/>
                  <a:pt x="-26036" y="137855"/>
                  <a:pt x="91864" y="47152"/>
                </a:cubicBezTo>
                <a:cubicBezTo>
                  <a:pt x="136077" y="13138"/>
                  <a:pt x="189873" y="-1920"/>
                  <a:pt x="245733" y="195"/>
                </a:cubicBezTo>
                <a:close/>
              </a:path>
            </a:pathLst>
          </a:custGeom>
          <a:solidFill>
            <a:srgbClr val="90E0E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2" name="Freihandform 21">
            <a:extLst>
              <a:ext uri="{FF2B5EF4-FFF2-40B4-BE49-F238E27FC236}">
                <a16:creationId xmlns:a16="http://schemas.microsoft.com/office/drawing/2014/main" id="{9E4FEEF8-8159-C524-E9A2-5221A473D769}"/>
              </a:ext>
            </a:extLst>
          </p:cNvPr>
          <p:cNvSpPr/>
          <p:nvPr/>
        </p:nvSpPr>
        <p:spPr>
          <a:xfrm>
            <a:off x="0" y="5540744"/>
            <a:ext cx="977408" cy="814132"/>
          </a:xfrm>
          <a:custGeom>
            <a:avLst/>
            <a:gdLst>
              <a:gd name="csX0" fmla="*/ 0 w 977408"/>
              <a:gd name="csY0" fmla="*/ 0 h 814132"/>
              <a:gd name="csX1" fmla="*/ 748707 w 977408"/>
              <a:gd name="csY1" fmla="*/ 284369 h 814132"/>
              <a:gd name="csX2" fmla="*/ 962900 w 977408"/>
              <a:gd name="csY2" fmla="*/ 653822 h 814132"/>
              <a:gd name="csX3" fmla="*/ 557449 w 977408"/>
              <a:gd name="csY3" fmla="*/ 787926 h 814132"/>
              <a:gd name="csX4" fmla="*/ 0 w 977408"/>
              <a:gd name="csY4" fmla="*/ 576199 h 8141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7408" h="814132">
                <a:moveTo>
                  <a:pt x="0" y="0"/>
                </a:moveTo>
                <a:lnTo>
                  <a:pt x="748707" y="284369"/>
                </a:lnTo>
                <a:cubicBezTo>
                  <a:pt x="919800" y="349353"/>
                  <a:pt x="1015717" y="514761"/>
                  <a:pt x="962900" y="653822"/>
                </a:cubicBezTo>
                <a:cubicBezTo>
                  <a:pt x="910082" y="792883"/>
                  <a:pt x="728542" y="852910"/>
                  <a:pt x="557449" y="787926"/>
                </a:cubicBezTo>
                <a:lnTo>
                  <a:pt x="0" y="576199"/>
                </a:lnTo>
                <a:close/>
              </a:path>
            </a:pathLst>
          </a:custGeom>
          <a:solidFill>
            <a:srgbClr val="00B4D8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7717192C-F72F-9521-1401-2BF21FF7D7B0}"/>
              </a:ext>
            </a:extLst>
          </p:cNvPr>
          <p:cNvGrpSpPr/>
          <p:nvPr/>
        </p:nvGrpSpPr>
        <p:grpSpPr>
          <a:xfrm>
            <a:off x="8077896" y="1"/>
            <a:ext cx="1066105" cy="1061547"/>
            <a:chOff x="8077896" y="1"/>
            <a:chExt cx="1066105" cy="1061547"/>
          </a:xfrm>
        </p:grpSpPr>
        <p:sp>
          <p:nvSpPr>
            <p:cNvPr id="14" name="Freihandform 13">
              <a:extLst>
                <a:ext uri="{FF2B5EF4-FFF2-40B4-BE49-F238E27FC236}">
                  <a16:creationId xmlns:a16="http://schemas.microsoft.com/office/drawing/2014/main" id="{7B21B570-9274-BD55-A16E-5F7439F68044}"/>
                </a:ext>
              </a:extLst>
            </p:cNvPr>
            <p:cNvSpPr/>
            <p:nvPr/>
          </p:nvSpPr>
          <p:spPr>
            <a:xfrm>
              <a:off x="8077896" y="1"/>
              <a:ext cx="1066104" cy="1061547"/>
            </a:xfrm>
            <a:custGeom>
              <a:avLst/>
              <a:gdLst>
                <a:gd name="csX0" fmla="*/ 31278 w 1066104"/>
                <a:gd name="csY0" fmla="*/ 0 h 1061547"/>
                <a:gd name="csX1" fmla="*/ 1066104 w 1066104"/>
                <a:gd name="csY1" fmla="*/ 0 h 1061547"/>
                <a:gd name="csX2" fmla="*/ 1066104 w 1066104"/>
                <a:gd name="csY2" fmla="*/ 1048005 h 1061547"/>
                <a:gd name="csX3" fmla="*/ 1002100 w 1066104"/>
                <a:gd name="csY3" fmla="*/ 1057152 h 1061547"/>
                <a:gd name="csX4" fmla="*/ 909145 w 1066104"/>
                <a:gd name="csY4" fmla="*/ 1061547 h 1061547"/>
                <a:gd name="csX5" fmla="*/ 0 w 1066104"/>
                <a:gd name="csY5" fmla="*/ 210209 h 1061547"/>
                <a:gd name="csX6" fmla="*/ 18471 w 1066104"/>
                <a:gd name="csY6" fmla="*/ 38635 h 10615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066104" h="1061547">
                  <a:moveTo>
                    <a:pt x="31278" y="0"/>
                  </a:moveTo>
                  <a:lnTo>
                    <a:pt x="1066104" y="0"/>
                  </a:lnTo>
                  <a:lnTo>
                    <a:pt x="1066104" y="1048005"/>
                  </a:lnTo>
                  <a:lnTo>
                    <a:pt x="1002100" y="1057152"/>
                  </a:lnTo>
                  <a:cubicBezTo>
                    <a:pt x="971537" y="1060058"/>
                    <a:pt x="940527" y="1061547"/>
                    <a:pt x="909145" y="1061547"/>
                  </a:cubicBezTo>
                  <a:cubicBezTo>
                    <a:pt x="407038" y="1061547"/>
                    <a:pt x="0" y="680390"/>
                    <a:pt x="0" y="210209"/>
                  </a:cubicBezTo>
                  <a:cubicBezTo>
                    <a:pt x="0" y="151437"/>
                    <a:pt x="6360" y="94055"/>
                    <a:pt x="18471" y="38635"/>
                  </a:cubicBezTo>
                  <a:close/>
                </a:path>
              </a:pathLst>
            </a:custGeom>
            <a:solidFill>
              <a:srgbClr val="02045E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/>
            </a:p>
          </p:txBody>
        </p:sp>
        <p:sp>
          <p:nvSpPr>
            <p:cNvPr id="19" name="Freihandform 18">
              <a:extLst>
                <a:ext uri="{FF2B5EF4-FFF2-40B4-BE49-F238E27FC236}">
                  <a16:creationId xmlns:a16="http://schemas.microsoft.com/office/drawing/2014/main" id="{4EB35F36-9600-0B8C-BBC3-1CA14D909F6F}"/>
                </a:ext>
              </a:extLst>
            </p:cNvPr>
            <p:cNvSpPr/>
            <p:nvPr/>
          </p:nvSpPr>
          <p:spPr>
            <a:xfrm>
              <a:off x="8529842" y="1"/>
              <a:ext cx="614159" cy="667409"/>
            </a:xfrm>
            <a:custGeom>
              <a:avLst/>
              <a:gdLst>
                <a:gd name="csX0" fmla="*/ 53431 w 614159"/>
                <a:gd name="csY0" fmla="*/ 0 h 667409"/>
                <a:gd name="csX1" fmla="*/ 614159 w 614159"/>
                <a:gd name="csY1" fmla="*/ 0 h 667409"/>
                <a:gd name="csX2" fmla="*/ 614159 w 614159"/>
                <a:gd name="csY2" fmla="*/ 638000 h 667409"/>
                <a:gd name="csX3" fmla="*/ 549342 w 614159"/>
                <a:gd name="csY3" fmla="*/ 658121 h 667409"/>
                <a:gd name="csX4" fmla="*/ 457200 w 614159"/>
                <a:gd name="csY4" fmla="*/ 667409 h 667409"/>
                <a:gd name="csX5" fmla="*/ 0 w 614159"/>
                <a:gd name="csY5" fmla="*/ 210209 h 667409"/>
                <a:gd name="csX6" fmla="*/ 35929 w 614159"/>
                <a:gd name="csY6" fmla="*/ 32246 h 6674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14159" h="667409">
                  <a:moveTo>
                    <a:pt x="53431" y="0"/>
                  </a:moveTo>
                  <a:lnTo>
                    <a:pt x="614159" y="0"/>
                  </a:lnTo>
                  <a:lnTo>
                    <a:pt x="614159" y="638000"/>
                  </a:lnTo>
                  <a:lnTo>
                    <a:pt x="549342" y="658121"/>
                  </a:lnTo>
                  <a:cubicBezTo>
                    <a:pt x="519579" y="664211"/>
                    <a:pt x="488763" y="667409"/>
                    <a:pt x="457200" y="667409"/>
                  </a:cubicBezTo>
                  <a:cubicBezTo>
                    <a:pt x="204695" y="667409"/>
                    <a:pt x="0" y="462714"/>
                    <a:pt x="0" y="210209"/>
                  </a:cubicBezTo>
                  <a:cubicBezTo>
                    <a:pt x="0" y="147083"/>
                    <a:pt x="12793" y="86945"/>
                    <a:pt x="35929" y="32246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/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4118EC7F-20CF-92F9-A2A0-F254AE3D0C3D}"/>
              </a:ext>
            </a:extLst>
          </p:cNvPr>
          <p:cNvSpPr txBox="1">
            <a:spLocks/>
          </p:cNvSpPr>
          <p:nvPr/>
        </p:nvSpPr>
        <p:spPr>
          <a:xfrm>
            <a:off x="457200" y="440022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noProof="0">
                <a:solidFill>
                  <a:srgbClr val="1F45E5"/>
                </a:solidFill>
              </a:rPr>
              <a:t>Overview</a:t>
            </a:r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C0CAB59A-168A-4F88-BC08-B8F3C25FF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790819"/>
              </p:ext>
            </p:extLst>
          </p:nvPr>
        </p:nvGraphicFramePr>
        <p:xfrm>
          <a:off x="457200" y="1229272"/>
          <a:ext cx="8072642" cy="4462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550">
                  <a:extLst>
                    <a:ext uri="{9D8B030D-6E8A-4147-A177-3AD203B41FA5}">
                      <a16:colId xmlns:a16="http://schemas.microsoft.com/office/drawing/2014/main" val="270323907"/>
                    </a:ext>
                  </a:extLst>
                </a:gridCol>
                <a:gridCol w="3274196">
                  <a:extLst>
                    <a:ext uri="{9D8B030D-6E8A-4147-A177-3AD203B41FA5}">
                      <a16:colId xmlns:a16="http://schemas.microsoft.com/office/drawing/2014/main" val="2814301796"/>
                    </a:ext>
                  </a:extLst>
                </a:gridCol>
                <a:gridCol w="2683896">
                  <a:extLst>
                    <a:ext uri="{9D8B030D-6E8A-4147-A177-3AD203B41FA5}">
                      <a16:colId xmlns:a16="http://schemas.microsoft.com/office/drawing/2014/main" val="997416717"/>
                    </a:ext>
                  </a:extLst>
                </a:gridCol>
              </a:tblGrid>
              <a:tr h="582286">
                <a:tc>
                  <a:txBody>
                    <a:bodyPr/>
                    <a:lstStyle/>
                    <a:p>
                      <a:r>
                        <a:rPr lang="en-US" sz="1600" noProof="0"/>
                        <a:t>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853909"/>
                  </a:ext>
                </a:extLst>
              </a:tr>
              <a:tr h="582286">
                <a:tc>
                  <a:txBody>
                    <a:bodyPr/>
                    <a:lstStyle/>
                    <a:p>
                      <a:r>
                        <a:rPr lang="en-US" sz="1600" noProof="0"/>
                        <a:t>Explore hardware modules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/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489118"/>
                  </a:ext>
                </a:extLst>
              </a:tr>
              <a:tr h="582286">
                <a:tc>
                  <a:txBody>
                    <a:bodyPr/>
                    <a:lstStyle/>
                    <a:p>
                      <a:r>
                        <a:rPr lang="en-US" sz="1600" noProof="0"/>
                        <a:t>3D print sensor mounts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/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noProof="0"/>
                        <a:t>Camera mount printed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noProof="0"/>
                        <a:t>Lidar mount designed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0812871"/>
                  </a:ext>
                </a:extLst>
              </a:tr>
              <a:tr h="582286">
                <a:tc>
                  <a:txBody>
                    <a:bodyPr/>
                    <a:lstStyle/>
                    <a:p>
                      <a:r>
                        <a:rPr lang="en-US" sz="1600" noProof="0"/>
                        <a:t>Robot movement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/>
                        <a:t>Done in simulation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600" noProof="0"/>
                        <a:t>Robot can move from one point to another with Nav2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434993"/>
                  </a:ext>
                </a:extLst>
              </a:tr>
              <a:tr h="582286">
                <a:tc>
                  <a:txBody>
                    <a:bodyPr/>
                    <a:lstStyle/>
                    <a:p>
                      <a:r>
                        <a:rPr lang="en-US" sz="1600" noProof="0"/>
                        <a:t>Setup ROS2/ </a:t>
                      </a:r>
                    </a:p>
                    <a:p>
                      <a:r>
                        <a:rPr lang="en-US" sz="1600" noProof="0"/>
                        <a:t>ROS2 Gazebo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/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600" noProof="0"/>
                        <a:t>Integrated a simulated lidar to map the 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887764"/>
                  </a:ext>
                </a:extLst>
              </a:tr>
              <a:tr h="582286">
                <a:tc>
                  <a:txBody>
                    <a:bodyPr/>
                    <a:lstStyle/>
                    <a:p>
                      <a:r>
                        <a:rPr lang="en-US" sz="1600" noProof="0"/>
                        <a:t>SLAM-algorithm simulation/real world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Done (real world)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6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slam_toolbox</a:t>
                      </a:r>
                      <a:r>
                        <a:rPr lang="en-US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mapping</a:t>
                      </a:r>
                      <a:endParaRPr lang="en-US" altLang="zh-CN" sz="1600" b="0" i="0" u="none" strike="noStrike" noProof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Map saved (</a:t>
                      </a:r>
                      <a:r>
                        <a:rPr lang="en-US" sz="16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pgm</a:t>
                      </a:r>
                      <a:r>
                        <a:rPr lang="en-US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/</a:t>
                      </a:r>
                      <a:r>
                        <a:rPr lang="en-US" sz="16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yaml</a:t>
                      </a:r>
                      <a:r>
                        <a:rPr lang="en-US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+ </a:t>
                      </a:r>
                      <a:r>
                        <a:rPr lang="en-US" sz="16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posegraph</a:t>
                      </a:r>
                      <a:r>
                        <a:rPr lang="en-US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/data)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Localization mode</a:t>
                      </a:r>
                      <a:endParaRPr lang="en-US"/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/</a:t>
                      </a:r>
                      <a:r>
                        <a:rPr lang="en-US" sz="16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robot_pose</a:t>
                      </a:r>
                      <a:r>
                        <a:rPr lang="en-US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topic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552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444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AE466-504E-67E9-0DD0-94652D009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ihandform 23">
            <a:extLst>
              <a:ext uri="{FF2B5EF4-FFF2-40B4-BE49-F238E27FC236}">
                <a16:creationId xmlns:a16="http://schemas.microsoft.com/office/drawing/2014/main" id="{A90FE2DF-A30B-0464-470F-41194CAABB78}"/>
              </a:ext>
            </a:extLst>
          </p:cNvPr>
          <p:cNvSpPr/>
          <p:nvPr/>
        </p:nvSpPr>
        <p:spPr>
          <a:xfrm>
            <a:off x="5691388" y="5994473"/>
            <a:ext cx="1059729" cy="863526"/>
          </a:xfrm>
          <a:custGeom>
            <a:avLst/>
            <a:gdLst>
              <a:gd name="csX0" fmla="*/ 245733 w 1059729"/>
              <a:gd name="csY0" fmla="*/ 195 h 863526"/>
              <a:gd name="csX1" fmla="*/ 507414 w 1059729"/>
              <a:gd name="csY1" fmla="*/ 145604 h 863526"/>
              <a:gd name="csX2" fmla="*/ 1059729 w 1059729"/>
              <a:gd name="csY2" fmla="*/ 863526 h 863526"/>
              <a:gd name="csX3" fmla="*/ 380114 w 1059729"/>
              <a:gd name="csY3" fmla="*/ 863526 h 863526"/>
              <a:gd name="csX4" fmla="*/ 80482 w 1059729"/>
              <a:gd name="csY4" fmla="*/ 474053 h 863526"/>
              <a:gd name="csX5" fmla="*/ 91864 w 1059729"/>
              <a:gd name="csY5" fmla="*/ 47152 h 863526"/>
              <a:gd name="csX6" fmla="*/ 245733 w 1059729"/>
              <a:gd name="csY6" fmla="*/ 195 h 8635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59729" h="863526">
                <a:moveTo>
                  <a:pt x="245733" y="195"/>
                </a:moveTo>
                <a:cubicBezTo>
                  <a:pt x="338833" y="3719"/>
                  <a:pt x="437666" y="54942"/>
                  <a:pt x="507414" y="145604"/>
                </a:cubicBezTo>
                <a:lnTo>
                  <a:pt x="1059729" y="863526"/>
                </a:lnTo>
                <a:lnTo>
                  <a:pt x="380114" y="863526"/>
                </a:lnTo>
                <a:lnTo>
                  <a:pt x="80482" y="474053"/>
                </a:lnTo>
                <a:cubicBezTo>
                  <a:pt x="-31115" y="328995"/>
                  <a:pt x="-26036" y="137855"/>
                  <a:pt x="91864" y="47152"/>
                </a:cubicBezTo>
                <a:cubicBezTo>
                  <a:pt x="136077" y="13138"/>
                  <a:pt x="189873" y="-1920"/>
                  <a:pt x="245733" y="195"/>
                </a:cubicBezTo>
                <a:close/>
              </a:path>
            </a:pathLst>
          </a:custGeom>
          <a:solidFill>
            <a:srgbClr val="90E0E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2" name="Freihandform 21">
            <a:extLst>
              <a:ext uri="{FF2B5EF4-FFF2-40B4-BE49-F238E27FC236}">
                <a16:creationId xmlns:a16="http://schemas.microsoft.com/office/drawing/2014/main" id="{5B5DA6D1-CEE7-E00F-4B95-BCDF546163B5}"/>
              </a:ext>
            </a:extLst>
          </p:cNvPr>
          <p:cNvSpPr/>
          <p:nvPr/>
        </p:nvSpPr>
        <p:spPr>
          <a:xfrm>
            <a:off x="0" y="5540744"/>
            <a:ext cx="977408" cy="814132"/>
          </a:xfrm>
          <a:custGeom>
            <a:avLst/>
            <a:gdLst>
              <a:gd name="csX0" fmla="*/ 0 w 977408"/>
              <a:gd name="csY0" fmla="*/ 0 h 814132"/>
              <a:gd name="csX1" fmla="*/ 748707 w 977408"/>
              <a:gd name="csY1" fmla="*/ 284369 h 814132"/>
              <a:gd name="csX2" fmla="*/ 962900 w 977408"/>
              <a:gd name="csY2" fmla="*/ 653822 h 814132"/>
              <a:gd name="csX3" fmla="*/ 557449 w 977408"/>
              <a:gd name="csY3" fmla="*/ 787926 h 814132"/>
              <a:gd name="csX4" fmla="*/ 0 w 977408"/>
              <a:gd name="csY4" fmla="*/ 576199 h 8141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7408" h="814132">
                <a:moveTo>
                  <a:pt x="0" y="0"/>
                </a:moveTo>
                <a:lnTo>
                  <a:pt x="748707" y="284369"/>
                </a:lnTo>
                <a:cubicBezTo>
                  <a:pt x="919800" y="349353"/>
                  <a:pt x="1015717" y="514761"/>
                  <a:pt x="962900" y="653822"/>
                </a:cubicBezTo>
                <a:cubicBezTo>
                  <a:pt x="910082" y="792883"/>
                  <a:pt x="728542" y="852910"/>
                  <a:pt x="557449" y="787926"/>
                </a:cubicBezTo>
                <a:lnTo>
                  <a:pt x="0" y="576199"/>
                </a:lnTo>
                <a:close/>
              </a:path>
            </a:pathLst>
          </a:custGeom>
          <a:solidFill>
            <a:srgbClr val="00B4D8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E482AA76-045D-1713-DA4B-8802EC0B0E25}"/>
              </a:ext>
            </a:extLst>
          </p:cNvPr>
          <p:cNvGrpSpPr/>
          <p:nvPr/>
        </p:nvGrpSpPr>
        <p:grpSpPr>
          <a:xfrm>
            <a:off x="8077896" y="1"/>
            <a:ext cx="1066105" cy="1061547"/>
            <a:chOff x="8077896" y="1"/>
            <a:chExt cx="1066105" cy="1061547"/>
          </a:xfrm>
        </p:grpSpPr>
        <p:sp>
          <p:nvSpPr>
            <p:cNvPr id="14" name="Freihandform 13">
              <a:extLst>
                <a:ext uri="{FF2B5EF4-FFF2-40B4-BE49-F238E27FC236}">
                  <a16:creationId xmlns:a16="http://schemas.microsoft.com/office/drawing/2014/main" id="{476E10EB-A61D-B7E5-3B61-8335F77A53E7}"/>
                </a:ext>
              </a:extLst>
            </p:cNvPr>
            <p:cNvSpPr/>
            <p:nvPr/>
          </p:nvSpPr>
          <p:spPr>
            <a:xfrm>
              <a:off x="8077896" y="1"/>
              <a:ext cx="1066104" cy="1061547"/>
            </a:xfrm>
            <a:custGeom>
              <a:avLst/>
              <a:gdLst>
                <a:gd name="csX0" fmla="*/ 31278 w 1066104"/>
                <a:gd name="csY0" fmla="*/ 0 h 1061547"/>
                <a:gd name="csX1" fmla="*/ 1066104 w 1066104"/>
                <a:gd name="csY1" fmla="*/ 0 h 1061547"/>
                <a:gd name="csX2" fmla="*/ 1066104 w 1066104"/>
                <a:gd name="csY2" fmla="*/ 1048005 h 1061547"/>
                <a:gd name="csX3" fmla="*/ 1002100 w 1066104"/>
                <a:gd name="csY3" fmla="*/ 1057152 h 1061547"/>
                <a:gd name="csX4" fmla="*/ 909145 w 1066104"/>
                <a:gd name="csY4" fmla="*/ 1061547 h 1061547"/>
                <a:gd name="csX5" fmla="*/ 0 w 1066104"/>
                <a:gd name="csY5" fmla="*/ 210209 h 1061547"/>
                <a:gd name="csX6" fmla="*/ 18471 w 1066104"/>
                <a:gd name="csY6" fmla="*/ 38635 h 10615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066104" h="1061547">
                  <a:moveTo>
                    <a:pt x="31278" y="0"/>
                  </a:moveTo>
                  <a:lnTo>
                    <a:pt x="1066104" y="0"/>
                  </a:lnTo>
                  <a:lnTo>
                    <a:pt x="1066104" y="1048005"/>
                  </a:lnTo>
                  <a:lnTo>
                    <a:pt x="1002100" y="1057152"/>
                  </a:lnTo>
                  <a:cubicBezTo>
                    <a:pt x="971537" y="1060058"/>
                    <a:pt x="940527" y="1061547"/>
                    <a:pt x="909145" y="1061547"/>
                  </a:cubicBezTo>
                  <a:cubicBezTo>
                    <a:pt x="407038" y="1061547"/>
                    <a:pt x="0" y="680390"/>
                    <a:pt x="0" y="210209"/>
                  </a:cubicBezTo>
                  <a:cubicBezTo>
                    <a:pt x="0" y="151437"/>
                    <a:pt x="6360" y="94055"/>
                    <a:pt x="18471" y="38635"/>
                  </a:cubicBezTo>
                  <a:close/>
                </a:path>
              </a:pathLst>
            </a:custGeom>
            <a:solidFill>
              <a:srgbClr val="02045E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/>
            </a:p>
          </p:txBody>
        </p:sp>
        <p:sp>
          <p:nvSpPr>
            <p:cNvPr id="19" name="Freihandform 18">
              <a:extLst>
                <a:ext uri="{FF2B5EF4-FFF2-40B4-BE49-F238E27FC236}">
                  <a16:creationId xmlns:a16="http://schemas.microsoft.com/office/drawing/2014/main" id="{6DA7F422-D6ED-D618-EC43-D3A6966DE169}"/>
                </a:ext>
              </a:extLst>
            </p:cNvPr>
            <p:cNvSpPr/>
            <p:nvPr/>
          </p:nvSpPr>
          <p:spPr>
            <a:xfrm>
              <a:off x="8529842" y="1"/>
              <a:ext cx="614159" cy="667409"/>
            </a:xfrm>
            <a:custGeom>
              <a:avLst/>
              <a:gdLst>
                <a:gd name="csX0" fmla="*/ 53431 w 614159"/>
                <a:gd name="csY0" fmla="*/ 0 h 667409"/>
                <a:gd name="csX1" fmla="*/ 614159 w 614159"/>
                <a:gd name="csY1" fmla="*/ 0 h 667409"/>
                <a:gd name="csX2" fmla="*/ 614159 w 614159"/>
                <a:gd name="csY2" fmla="*/ 638000 h 667409"/>
                <a:gd name="csX3" fmla="*/ 549342 w 614159"/>
                <a:gd name="csY3" fmla="*/ 658121 h 667409"/>
                <a:gd name="csX4" fmla="*/ 457200 w 614159"/>
                <a:gd name="csY4" fmla="*/ 667409 h 667409"/>
                <a:gd name="csX5" fmla="*/ 0 w 614159"/>
                <a:gd name="csY5" fmla="*/ 210209 h 667409"/>
                <a:gd name="csX6" fmla="*/ 35929 w 614159"/>
                <a:gd name="csY6" fmla="*/ 32246 h 6674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14159" h="667409">
                  <a:moveTo>
                    <a:pt x="53431" y="0"/>
                  </a:moveTo>
                  <a:lnTo>
                    <a:pt x="614159" y="0"/>
                  </a:lnTo>
                  <a:lnTo>
                    <a:pt x="614159" y="638000"/>
                  </a:lnTo>
                  <a:lnTo>
                    <a:pt x="549342" y="658121"/>
                  </a:lnTo>
                  <a:cubicBezTo>
                    <a:pt x="519579" y="664211"/>
                    <a:pt x="488763" y="667409"/>
                    <a:pt x="457200" y="667409"/>
                  </a:cubicBezTo>
                  <a:cubicBezTo>
                    <a:pt x="204695" y="667409"/>
                    <a:pt x="0" y="462714"/>
                    <a:pt x="0" y="210209"/>
                  </a:cubicBezTo>
                  <a:cubicBezTo>
                    <a:pt x="0" y="147083"/>
                    <a:pt x="12793" y="86945"/>
                    <a:pt x="35929" y="32246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491E461B-5071-CD42-4BBC-6B340D8BEBC2}"/>
              </a:ext>
            </a:extLst>
          </p:cNvPr>
          <p:cNvSpPr txBox="1">
            <a:spLocks/>
          </p:cNvSpPr>
          <p:nvPr/>
        </p:nvSpPr>
        <p:spPr>
          <a:xfrm>
            <a:off x="1" y="1"/>
            <a:ext cx="5101935" cy="274638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1600" b="1" noProof="0"/>
          </a:p>
        </p:txBody>
      </p:sp>
      <p:sp>
        <p:nvSpPr>
          <p:cNvPr id="4" name="Rechteck: abgerundete Ecken 4">
            <a:extLst>
              <a:ext uri="{FF2B5EF4-FFF2-40B4-BE49-F238E27FC236}">
                <a16:creationId xmlns:a16="http://schemas.microsoft.com/office/drawing/2014/main" id="{E62865FC-33E4-89FB-C5F8-EE5750D6E94B}"/>
              </a:ext>
            </a:extLst>
          </p:cNvPr>
          <p:cNvSpPr/>
          <p:nvPr/>
        </p:nvSpPr>
        <p:spPr>
          <a:xfrm>
            <a:off x="457200" y="1543100"/>
            <a:ext cx="8229600" cy="3832261"/>
          </a:xfrm>
          <a:prstGeom prst="roundRect">
            <a:avLst>
              <a:gd name="adj" fmla="val 6005"/>
            </a:avLst>
          </a:prstGeom>
          <a:solidFill>
            <a:srgbClr val="1F45E5">
              <a:alpha val="10980"/>
            </a:srgb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E8E25E9-C4EE-1562-DBB5-035F3568C019}"/>
              </a:ext>
            </a:extLst>
          </p:cNvPr>
          <p:cNvSpPr>
            <a:spLocks noGrp="1"/>
          </p:cNvSpPr>
          <p:nvPr/>
        </p:nvSpPr>
        <p:spPr>
          <a:xfrm>
            <a:off x="706743" y="1570956"/>
            <a:ext cx="7680512" cy="338992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/>
            </a:pPr>
            <a:r>
              <a:rPr lang="en-US" sz="2100" b="1"/>
              <a:t>Zhenbo Gao</a:t>
            </a:r>
            <a:endParaRPr lang="en-US" sz="2100" b="1">
              <a:ea typeface="Calibri"/>
              <a:cs typeface="Calibri"/>
            </a:endParaRPr>
          </a:p>
          <a:p>
            <a:pPr lvl="1">
              <a:defRPr sz="2000"/>
            </a:pPr>
            <a:r>
              <a:rPr lang="zh-CN" sz="2100" b="1">
                <a:ea typeface="+mn-lt"/>
                <a:cs typeface="+mn-lt"/>
              </a:rPr>
              <a:t>SLAM &amp; Localization</a:t>
            </a:r>
            <a:r>
              <a:rPr lang="en-US" altLang="zh-CN" sz="2100" b="1">
                <a:ea typeface="+mn-lt"/>
                <a:cs typeface="+mn-lt"/>
              </a:rPr>
              <a:t>: </a:t>
            </a:r>
            <a:r>
              <a:rPr lang="zh-CN" sz="2100" b="1">
                <a:ea typeface="+mn-lt"/>
                <a:cs typeface="+mn-lt"/>
              </a:rPr>
              <a:t>Real-time mapping with slam_toolbox; publishes /map, /robot_pose</a:t>
            </a:r>
            <a:endParaRPr lang="en-US" sz="2100" b="1">
              <a:ea typeface="Calibri"/>
              <a:cs typeface="Calibri"/>
            </a:endParaRPr>
          </a:p>
          <a:p>
            <a:pPr lvl="1">
              <a:defRPr sz="2000"/>
            </a:pPr>
            <a:r>
              <a:rPr lang="zh-CN" sz="2100" b="1">
                <a:ea typeface="+mn-lt"/>
                <a:cs typeface="+mn-lt"/>
              </a:rPr>
              <a:t>Perception &amp; Object Detection</a:t>
            </a:r>
            <a:r>
              <a:rPr lang="en-US" altLang="zh-CN" sz="2100" b="1">
                <a:ea typeface="+mn-lt"/>
                <a:cs typeface="+mn-lt"/>
              </a:rPr>
              <a:t>: </a:t>
            </a:r>
            <a:r>
              <a:rPr lang="zh-CN" sz="2100" b="1">
                <a:ea typeface="+mn-lt"/>
                <a:cs typeface="+mn-lt"/>
              </a:rPr>
              <a:t>Color recognition (HSV) + 3D block pose via RealSense depth camera</a:t>
            </a:r>
            <a:endParaRPr lang="en-US" b="1">
              <a:ea typeface="宋体"/>
            </a:endParaRPr>
          </a:p>
          <a:p>
            <a:pPr>
              <a:defRPr sz="2000"/>
            </a:pPr>
            <a:r>
              <a:rPr lang="en-US" b="1" noProof="0"/>
              <a:t>Baran Kiliç</a:t>
            </a:r>
          </a:p>
          <a:p>
            <a:pPr lvl="1">
              <a:defRPr sz="2000"/>
            </a:pPr>
            <a:r>
              <a:rPr lang="en-US" sz="2100" b="1">
                <a:ea typeface="Calibri"/>
                <a:cs typeface="Calibri"/>
              </a:rPr>
              <a:t>Ros2 / Gazebo Simulation</a:t>
            </a:r>
            <a:endParaRPr lang="en-US" sz="2100">
              <a:ea typeface="Calibri"/>
              <a:cs typeface="Calibri"/>
            </a:endParaRPr>
          </a:p>
          <a:p>
            <a:pPr>
              <a:defRPr sz="2000"/>
            </a:pPr>
            <a:r>
              <a:rPr lang="en-US" b="1" noProof="0"/>
              <a:t>Ben Garbe</a:t>
            </a:r>
          </a:p>
          <a:p>
            <a:pPr lvl="1">
              <a:defRPr sz="2000"/>
            </a:pPr>
            <a:r>
              <a:rPr lang="en-US" b="1" noProof="0"/>
              <a:t>Hardware</a:t>
            </a:r>
          </a:p>
          <a:p>
            <a:pPr lvl="1">
              <a:defRPr sz="2000"/>
            </a:pPr>
            <a:r>
              <a:rPr lang="en-US" sz="2100" b="1"/>
              <a:t>Robot Arm Control</a:t>
            </a:r>
            <a:r>
              <a:rPr lang="en-US" b="1" noProof="0"/>
              <a:t> </a:t>
            </a:r>
            <a:endParaRPr lang="en-US" b="1" noProof="0">
              <a:ea typeface="Calibri"/>
              <a:cs typeface="Calibri"/>
            </a:endParaRPr>
          </a:p>
          <a:p>
            <a:pPr>
              <a:defRPr sz="2000"/>
            </a:pPr>
            <a:endParaRPr lang="en-US" b="1" noProof="0"/>
          </a:p>
          <a:p>
            <a:pPr>
              <a:defRPr sz="2000"/>
            </a:pPr>
            <a:endParaRPr lang="en-US" b="1" noProof="0"/>
          </a:p>
          <a:p>
            <a:pPr marL="0" indent="0">
              <a:buNone/>
              <a:defRPr sz="2000"/>
            </a:pPr>
            <a:r>
              <a:rPr lang="en-US" sz="2800" b="1" noProof="0"/>
              <a:t>		</a:t>
            </a:r>
            <a:r>
              <a:rPr lang="en-US" b="1" noProof="0"/>
              <a:t> </a:t>
            </a:r>
            <a:endParaRPr lang="en-US" b="1" noProof="0">
              <a:ea typeface="Calibri"/>
              <a:cs typeface="Calibri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328CCB4-A65F-006E-03B0-20B4760026D3}"/>
              </a:ext>
            </a:extLst>
          </p:cNvPr>
          <p:cNvSpPr txBox="1">
            <a:spLocks/>
          </p:cNvSpPr>
          <p:nvPr/>
        </p:nvSpPr>
        <p:spPr>
          <a:xfrm>
            <a:off x="457200" y="440022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noProof="0">
                <a:solidFill>
                  <a:srgbClr val="1F45E5"/>
                </a:solidFill>
              </a:rPr>
              <a:t>Tasks &amp; Responsibilities</a:t>
            </a:r>
          </a:p>
        </p:txBody>
      </p:sp>
    </p:spTree>
    <p:extLst>
      <p:ext uri="{BB962C8B-B14F-4D97-AF65-F5344CB8AC3E}">
        <p14:creationId xmlns:p14="http://schemas.microsoft.com/office/powerpoint/2010/main" val="931043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E1281-C72B-4BA7-86A3-06152A5D9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ihandform 23">
            <a:extLst>
              <a:ext uri="{FF2B5EF4-FFF2-40B4-BE49-F238E27FC236}">
                <a16:creationId xmlns:a16="http://schemas.microsoft.com/office/drawing/2014/main" id="{BECA2E7C-F07F-E355-56A5-F7F816F21D09}"/>
              </a:ext>
            </a:extLst>
          </p:cNvPr>
          <p:cNvSpPr/>
          <p:nvPr/>
        </p:nvSpPr>
        <p:spPr>
          <a:xfrm>
            <a:off x="5691388" y="5994473"/>
            <a:ext cx="1059729" cy="863526"/>
          </a:xfrm>
          <a:custGeom>
            <a:avLst/>
            <a:gdLst>
              <a:gd name="csX0" fmla="*/ 245733 w 1059729"/>
              <a:gd name="csY0" fmla="*/ 195 h 863526"/>
              <a:gd name="csX1" fmla="*/ 507414 w 1059729"/>
              <a:gd name="csY1" fmla="*/ 145604 h 863526"/>
              <a:gd name="csX2" fmla="*/ 1059729 w 1059729"/>
              <a:gd name="csY2" fmla="*/ 863526 h 863526"/>
              <a:gd name="csX3" fmla="*/ 380114 w 1059729"/>
              <a:gd name="csY3" fmla="*/ 863526 h 863526"/>
              <a:gd name="csX4" fmla="*/ 80482 w 1059729"/>
              <a:gd name="csY4" fmla="*/ 474053 h 863526"/>
              <a:gd name="csX5" fmla="*/ 91864 w 1059729"/>
              <a:gd name="csY5" fmla="*/ 47152 h 863526"/>
              <a:gd name="csX6" fmla="*/ 245733 w 1059729"/>
              <a:gd name="csY6" fmla="*/ 195 h 8635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59729" h="863526">
                <a:moveTo>
                  <a:pt x="245733" y="195"/>
                </a:moveTo>
                <a:cubicBezTo>
                  <a:pt x="338833" y="3719"/>
                  <a:pt x="437666" y="54942"/>
                  <a:pt x="507414" y="145604"/>
                </a:cubicBezTo>
                <a:lnTo>
                  <a:pt x="1059729" y="863526"/>
                </a:lnTo>
                <a:lnTo>
                  <a:pt x="380114" y="863526"/>
                </a:lnTo>
                <a:lnTo>
                  <a:pt x="80482" y="474053"/>
                </a:lnTo>
                <a:cubicBezTo>
                  <a:pt x="-31115" y="328995"/>
                  <a:pt x="-26036" y="137855"/>
                  <a:pt x="91864" y="47152"/>
                </a:cubicBezTo>
                <a:cubicBezTo>
                  <a:pt x="136077" y="13138"/>
                  <a:pt x="189873" y="-1920"/>
                  <a:pt x="245733" y="195"/>
                </a:cubicBezTo>
                <a:close/>
              </a:path>
            </a:pathLst>
          </a:custGeom>
          <a:solidFill>
            <a:srgbClr val="90E0E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2" name="Freihandform 21">
            <a:extLst>
              <a:ext uri="{FF2B5EF4-FFF2-40B4-BE49-F238E27FC236}">
                <a16:creationId xmlns:a16="http://schemas.microsoft.com/office/drawing/2014/main" id="{70E463E6-8BF3-D055-C537-FA23F5F1A02F}"/>
              </a:ext>
            </a:extLst>
          </p:cNvPr>
          <p:cNvSpPr/>
          <p:nvPr/>
        </p:nvSpPr>
        <p:spPr>
          <a:xfrm>
            <a:off x="0" y="5540744"/>
            <a:ext cx="977408" cy="814132"/>
          </a:xfrm>
          <a:custGeom>
            <a:avLst/>
            <a:gdLst>
              <a:gd name="csX0" fmla="*/ 0 w 977408"/>
              <a:gd name="csY0" fmla="*/ 0 h 814132"/>
              <a:gd name="csX1" fmla="*/ 748707 w 977408"/>
              <a:gd name="csY1" fmla="*/ 284369 h 814132"/>
              <a:gd name="csX2" fmla="*/ 962900 w 977408"/>
              <a:gd name="csY2" fmla="*/ 653822 h 814132"/>
              <a:gd name="csX3" fmla="*/ 557449 w 977408"/>
              <a:gd name="csY3" fmla="*/ 787926 h 814132"/>
              <a:gd name="csX4" fmla="*/ 0 w 977408"/>
              <a:gd name="csY4" fmla="*/ 576199 h 8141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7408" h="814132">
                <a:moveTo>
                  <a:pt x="0" y="0"/>
                </a:moveTo>
                <a:lnTo>
                  <a:pt x="748707" y="284369"/>
                </a:lnTo>
                <a:cubicBezTo>
                  <a:pt x="919800" y="349353"/>
                  <a:pt x="1015717" y="514761"/>
                  <a:pt x="962900" y="653822"/>
                </a:cubicBezTo>
                <a:cubicBezTo>
                  <a:pt x="910082" y="792883"/>
                  <a:pt x="728542" y="852910"/>
                  <a:pt x="557449" y="787926"/>
                </a:cubicBezTo>
                <a:lnTo>
                  <a:pt x="0" y="576199"/>
                </a:lnTo>
                <a:close/>
              </a:path>
            </a:pathLst>
          </a:custGeom>
          <a:solidFill>
            <a:srgbClr val="00B4D8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1EB17CF3-C30C-3676-9AAB-52CDF74A84D9}"/>
              </a:ext>
            </a:extLst>
          </p:cNvPr>
          <p:cNvGrpSpPr/>
          <p:nvPr/>
        </p:nvGrpSpPr>
        <p:grpSpPr>
          <a:xfrm>
            <a:off x="8077896" y="1"/>
            <a:ext cx="1066105" cy="1061547"/>
            <a:chOff x="8077896" y="1"/>
            <a:chExt cx="1066105" cy="1061547"/>
          </a:xfrm>
        </p:grpSpPr>
        <p:sp>
          <p:nvSpPr>
            <p:cNvPr id="14" name="Freihandform 13">
              <a:extLst>
                <a:ext uri="{FF2B5EF4-FFF2-40B4-BE49-F238E27FC236}">
                  <a16:creationId xmlns:a16="http://schemas.microsoft.com/office/drawing/2014/main" id="{468E7798-9D99-31E7-B2B4-43A35066724D}"/>
                </a:ext>
              </a:extLst>
            </p:cNvPr>
            <p:cNvSpPr/>
            <p:nvPr/>
          </p:nvSpPr>
          <p:spPr>
            <a:xfrm>
              <a:off x="8077896" y="1"/>
              <a:ext cx="1066104" cy="1061547"/>
            </a:xfrm>
            <a:custGeom>
              <a:avLst/>
              <a:gdLst>
                <a:gd name="csX0" fmla="*/ 31278 w 1066104"/>
                <a:gd name="csY0" fmla="*/ 0 h 1061547"/>
                <a:gd name="csX1" fmla="*/ 1066104 w 1066104"/>
                <a:gd name="csY1" fmla="*/ 0 h 1061547"/>
                <a:gd name="csX2" fmla="*/ 1066104 w 1066104"/>
                <a:gd name="csY2" fmla="*/ 1048005 h 1061547"/>
                <a:gd name="csX3" fmla="*/ 1002100 w 1066104"/>
                <a:gd name="csY3" fmla="*/ 1057152 h 1061547"/>
                <a:gd name="csX4" fmla="*/ 909145 w 1066104"/>
                <a:gd name="csY4" fmla="*/ 1061547 h 1061547"/>
                <a:gd name="csX5" fmla="*/ 0 w 1066104"/>
                <a:gd name="csY5" fmla="*/ 210209 h 1061547"/>
                <a:gd name="csX6" fmla="*/ 18471 w 1066104"/>
                <a:gd name="csY6" fmla="*/ 38635 h 10615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066104" h="1061547">
                  <a:moveTo>
                    <a:pt x="31278" y="0"/>
                  </a:moveTo>
                  <a:lnTo>
                    <a:pt x="1066104" y="0"/>
                  </a:lnTo>
                  <a:lnTo>
                    <a:pt x="1066104" y="1048005"/>
                  </a:lnTo>
                  <a:lnTo>
                    <a:pt x="1002100" y="1057152"/>
                  </a:lnTo>
                  <a:cubicBezTo>
                    <a:pt x="971537" y="1060058"/>
                    <a:pt x="940527" y="1061547"/>
                    <a:pt x="909145" y="1061547"/>
                  </a:cubicBezTo>
                  <a:cubicBezTo>
                    <a:pt x="407038" y="1061547"/>
                    <a:pt x="0" y="680390"/>
                    <a:pt x="0" y="210209"/>
                  </a:cubicBezTo>
                  <a:cubicBezTo>
                    <a:pt x="0" y="151437"/>
                    <a:pt x="6360" y="94055"/>
                    <a:pt x="18471" y="38635"/>
                  </a:cubicBezTo>
                  <a:close/>
                </a:path>
              </a:pathLst>
            </a:custGeom>
            <a:solidFill>
              <a:srgbClr val="02045E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/>
            </a:p>
          </p:txBody>
        </p:sp>
        <p:sp>
          <p:nvSpPr>
            <p:cNvPr id="19" name="Freihandform 18">
              <a:extLst>
                <a:ext uri="{FF2B5EF4-FFF2-40B4-BE49-F238E27FC236}">
                  <a16:creationId xmlns:a16="http://schemas.microsoft.com/office/drawing/2014/main" id="{8325C4AC-88B0-2E35-C209-ED6DAEF716E1}"/>
                </a:ext>
              </a:extLst>
            </p:cNvPr>
            <p:cNvSpPr/>
            <p:nvPr/>
          </p:nvSpPr>
          <p:spPr>
            <a:xfrm>
              <a:off x="8529842" y="1"/>
              <a:ext cx="614159" cy="667409"/>
            </a:xfrm>
            <a:custGeom>
              <a:avLst/>
              <a:gdLst>
                <a:gd name="csX0" fmla="*/ 53431 w 614159"/>
                <a:gd name="csY0" fmla="*/ 0 h 667409"/>
                <a:gd name="csX1" fmla="*/ 614159 w 614159"/>
                <a:gd name="csY1" fmla="*/ 0 h 667409"/>
                <a:gd name="csX2" fmla="*/ 614159 w 614159"/>
                <a:gd name="csY2" fmla="*/ 638000 h 667409"/>
                <a:gd name="csX3" fmla="*/ 549342 w 614159"/>
                <a:gd name="csY3" fmla="*/ 658121 h 667409"/>
                <a:gd name="csX4" fmla="*/ 457200 w 614159"/>
                <a:gd name="csY4" fmla="*/ 667409 h 667409"/>
                <a:gd name="csX5" fmla="*/ 0 w 614159"/>
                <a:gd name="csY5" fmla="*/ 210209 h 667409"/>
                <a:gd name="csX6" fmla="*/ 35929 w 614159"/>
                <a:gd name="csY6" fmla="*/ 32246 h 6674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14159" h="667409">
                  <a:moveTo>
                    <a:pt x="53431" y="0"/>
                  </a:moveTo>
                  <a:lnTo>
                    <a:pt x="614159" y="0"/>
                  </a:lnTo>
                  <a:lnTo>
                    <a:pt x="614159" y="638000"/>
                  </a:lnTo>
                  <a:lnTo>
                    <a:pt x="549342" y="658121"/>
                  </a:lnTo>
                  <a:cubicBezTo>
                    <a:pt x="519579" y="664211"/>
                    <a:pt x="488763" y="667409"/>
                    <a:pt x="457200" y="667409"/>
                  </a:cubicBezTo>
                  <a:cubicBezTo>
                    <a:pt x="204695" y="667409"/>
                    <a:pt x="0" y="462714"/>
                    <a:pt x="0" y="210209"/>
                  </a:cubicBezTo>
                  <a:cubicBezTo>
                    <a:pt x="0" y="147083"/>
                    <a:pt x="12793" y="86945"/>
                    <a:pt x="35929" y="32246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DC47C6A5-62BF-4231-B89F-B15853C54CB2}"/>
              </a:ext>
            </a:extLst>
          </p:cNvPr>
          <p:cNvSpPr txBox="1">
            <a:spLocks/>
          </p:cNvSpPr>
          <p:nvPr/>
        </p:nvSpPr>
        <p:spPr>
          <a:xfrm>
            <a:off x="1" y="1"/>
            <a:ext cx="5101935" cy="274638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b="1" noProof="0"/>
              <a:t>Hardware Tasks</a:t>
            </a:r>
          </a:p>
        </p:txBody>
      </p:sp>
      <p:sp>
        <p:nvSpPr>
          <p:cNvPr id="4" name="Rechteck: abgerundete Ecken 4">
            <a:extLst>
              <a:ext uri="{FF2B5EF4-FFF2-40B4-BE49-F238E27FC236}">
                <a16:creationId xmlns:a16="http://schemas.microsoft.com/office/drawing/2014/main" id="{126A1671-6111-7E8F-C222-271525C4A1E2}"/>
              </a:ext>
            </a:extLst>
          </p:cNvPr>
          <p:cNvSpPr/>
          <p:nvPr/>
        </p:nvSpPr>
        <p:spPr>
          <a:xfrm>
            <a:off x="457200" y="1543100"/>
            <a:ext cx="8229600" cy="3832261"/>
          </a:xfrm>
          <a:prstGeom prst="roundRect">
            <a:avLst>
              <a:gd name="adj" fmla="val 6005"/>
            </a:avLst>
          </a:prstGeom>
          <a:solidFill>
            <a:srgbClr val="1F45E5">
              <a:alpha val="10980"/>
            </a:srgb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08342B1-4767-6923-84D7-741A96376CE1}"/>
              </a:ext>
            </a:extLst>
          </p:cNvPr>
          <p:cNvSpPr>
            <a:spLocks noGrp="1"/>
          </p:cNvSpPr>
          <p:nvPr/>
        </p:nvSpPr>
        <p:spPr>
          <a:xfrm>
            <a:off x="706743" y="1570956"/>
            <a:ext cx="7680512" cy="3389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/>
            </a:pPr>
            <a:r>
              <a:rPr lang="en-US" b="1" noProof="0"/>
              <a:t>First Version of Kamera mount designed and printed</a:t>
            </a:r>
          </a:p>
          <a:p>
            <a:pPr>
              <a:defRPr sz="2000"/>
            </a:pPr>
            <a:r>
              <a:rPr lang="en-US" b="1" noProof="0"/>
              <a:t>Lidar tower mount designed</a:t>
            </a:r>
          </a:p>
          <a:p>
            <a:pPr>
              <a:defRPr sz="2000"/>
            </a:pPr>
            <a:endParaRPr lang="en-US" b="1" noProof="0"/>
          </a:p>
          <a:p>
            <a:pPr>
              <a:defRPr sz="2000"/>
            </a:pPr>
            <a:endParaRPr lang="en-US" b="1" noProof="0"/>
          </a:p>
          <a:p>
            <a:pPr>
              <a:defRPr sz="2000"/>
            </a:pPr>
            <a:endParaRPr lang="en-US" b="1" noProof="0"/>
          </a:p>
          <a:p>
            <a:pPr marL="0" indent="0">
              <a:buNone/>
              <a:defRPr sz="2000"/>
            </a:pPr>
            <a:r>
              <a:rPr lang="en-US" sz="2800" b="1" noProof="0"/>
              <a:t>		</a:t>
            </a:r>
            <a:r>
              <a:rPr lang="en-US" b="1" noProof="0"/>
              <a:t>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A976901-4477-CEE4-8624-582861A3DA5D}"/>
              </a:ext>
            </a:extLst>
          </p:cNvPr>
          <p:cNvSpPr txBox="1">
            <a:spLocks/>
          </p:cNvSpPr>
          <p:nvPr/>
        </p:nvSpPr>
        <p:spPr>
          <a:xfrm>
            <a:off x="457200" y="440022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noProof="0">
                <a:solidFill>
                  <a:srgbClr val="1F45E5"/>
                </a:solidFill>
              </a:rPr>
              <a:t>Sensor Mounts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0C56B06-3351-7217-B535-061705F2C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743" y="2560210"/>
            <a:ext cx="3865257" cy="231510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DC74C16-E7A4-E77C-C95F-D3171493C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170" y="2227767"/>
            <a:ext cx="1780225" cy="272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892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ihandform 23">
            <a:extLst>
              <a:ext uri="{FF2B5EF4-FFF2-40B4-BE49-F238E27FC236}">
                <a16:creationId xmlns:a16="http://schemas.microsoft.com/office/drawing/2014/main" id="{DF0B64F3-C384-DFB5-99EC-AEF14FDC6E2B}"/>
              </a:ext>
            </a:extLst>
          </p:cNvPr>
          <p:cNvSpPr/>
          <p:nvPr/>
        </p:nvSpPr>
        <p:spPr>
          <a:xfrm>
            <a:off x="5691388" y="5994473"/>
            <a:ext cx="1059729" cy="863526"/>
          </a:xfrm>
          <a:custGeom>
            <a:avLst/>
            <a:gdLst>
              <a:gd name="csX0" fmla="*/ 245733 w 1059729"/>
              <a:gd name="csY0" fmla="*/ 195 h 863526"/>
              <a:gd name="csX1" fmla="*/ 507414 w 1059729"/>
              <a:gd name="csY1" fmla="*/ 145604 h 863526"/>
              <a:gd name="csX2" fmla="*/ 1059729 w 1059729"/>
              <a:gd name="csY2" fmla="*/ 863526 h 863526"/>
              <a:gd name="csX3" fmla="*/ 380114 w 1059729"/>
              <a:gd name="csY3" fmla="*/ 863526 h 863526"/>
              <a:gd name="csX4" fmla="*/ 80482 w 1059729"/>
              <a:gd name="csY4" fmla="*/ 474053 h 863526"/>
              <a:gd name="csX5" fmla="*/ 91864 w 1059729"/>
              <a:gd name="csY5" fmla="*/ 47152 h 863526"/>
              <a:gd name="csX6" fmla="*/ 245733 w 1059729"/>
              <a:gd name="csY6" fmla="*/ 195 h 8635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59729" h="863526">
                <a:moveTo>
                  <a:pt x="245733" y="195"/>
                </a:moveTo>
                <a:cubicBezTo>
                  <a:pt x="338833" y="3719"/>
                  <a:pt x="437666" y="54942"/>
                  <a:pt x="507414" y="145604"/>
                </a:cubicBezTo>
                <a:lnTo>
                  <a:pt x="1059729" y="863526"/>
                </a:lnTo>
                <a:lnTo>
                  <a:pt x="380114" y="863526"/>
                </a:lnTo>
                <a:lnTo>
                  <a:pt x="80482" y="474053"/>
                </a:lnTo>
                <a:cubicBezTo>
                  <a:pt x="-31115" y="328995"/>
                  <a:pt x="-26036" y="137855"/>
                  <a:pt x="91864" y="47152"/>
                </a:cubicBezTo>
                <a:cubicBezTo>
                  <a:pt x="136077" y="13138"/>
                  <a:pt x="189873" y="-1920"/>
                  <a:pt x="245733" y="195"/>
                </a:cubicBezTo>
                <a:close/>
              </a:path>
            </a:pathLst>
          </a:custGeom>
          <a:solidFill>
            <a:srgbClr val="90E0E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2" name="Freihandform 21">
            <a:extLst>
              <a:ext uri="{FF2B5EF4-FFF2-40B4-BE49-F238E27FC236}">
                <a16:creationId xmlns:a16="http://schemas.microsoft.com/office/drawing/2014/main" id="{78D3CBB7-62F1-A2F5-9F0B-7B736BADF408}"/>
              </a:ext>
            </a:extLst>
          </p:cNvPr>
          <p:cNvSpPr/>
          <p:nvPr/>
        </p:nvSpPr>
        <p:spPr>
          <a:xfrm>
            <a:off x="0" y="5540744"/>
            <a:ext cx="977408" cy="814132"/>
          </a:xfrm>
          <a:custGeom>
            <a:avLst/>
            <a:gdLst>
              <a:gd name="csX0" fmla="*/ 0 w 977408"/>
              <a:gd name="csY0" fmla="*/ 0 h 814132"/>
              <a:gd name="csX1" fmla="*/ 748707 w 977408"/>
              <a:gd name="csY1" fmla="*/ 284369 h 814132"/>
              <a:gd name="csX2" fmla="*/ 962900 w 977408"/>
              <a:gd name="csY2" fmla="*/ 653822 h 814132"/>
              <a:gd name="csX3" fmla="*/ 557449 w 977408"/>
              <a:gd name="csY3" fmla="*/ 787926 h 814132"/>
              <a:gd name="csX4" fmla="*/ 0 w 977408"/>
              <a:gd name="csY4" fmla="*/ 576199 h 8141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7408" h="814132">
                <a:moveTo>
                  <a:pt x="0" y="0"/>
                </a:moveTo>
                <a:lnTo>
                  <a:pt x="748707" y="284369"/>
                </a:lnTo>
                <a:cubicBezTo>
                  <a:pt x="919800" y="349353"/>
                  <a:pt x="1015717" y="514761"/>
                  <a:pt x="962900" y="653822"/>
                </a:cubicBezTo>
                <a:cubicBezTo>
                  <a:pt x="910082" y="792883"/>
                  <a:pt x="728542" y="852910"/>
                  <a:pt x="557449" y="787926"/>
                </a:cubicBezTo>
                <a:lnTo>
                  <a:pt x="0" y="576199"/>
                </a:lnTo>
                <a:close/>
              </a:path>
            </a:pathLst>
          </a:custGeom>
          <a:solidFill>
            <a:srgbClr val="00B4D8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9980EFA9-5179-B315-9810-25B060C940CB}"/>
              </a:ext>
            </a:extLst>
          </p:cNvPr>
          <p:cNvGrpSpPr/>
          <p:nvPr/>
        </p:nvGrpSpPr>
        <p:grpSpPr>
          <a:xfrm>
            <a:off x="8077896" y="1"/>
            <a:ext cx="1066105" cy="1061547"/>
            <a:chOff x="8077896" y="1"/>
            <a:chExt cx="1066105" cy="1061547"/>
          </a:xfrm>
        </p:grpSpPr>
        <p:sp>
          <p:nvSpPr>
            <p:cNvPr id="14" name="Freihandform 13">
              <a:extLst>
                <a:ext uri="{FF2B5EF4-FFF2-40B4-BE49-F238E27FC236}">
                  <a16:creationId xmlns:a16="http://schemas.microsoft.com/office/drawing/2014/main" id="{22BF128F-0902-8CB0-8863-6A57849C69DB}"/>
                </a:ext>
              </a:extLst>
            </p:cNvPr>
            <p:cNvSpPr/>
            <p:nvPr/>
          </p:nvSpPr>
          <p:spPr>
            <a:xfrm>
              <a:off x="8077896" y="1"/>
              <a:ext cx="1066104" cy="1061547"/>
            </a:xfrm>
            <a:custGeom>
              <a:avLst/>
              <a:gdLst>
                <a:gd name="csX0" fmla="*/ 31278 w 1066104"/>
                <a:gd name="csY0" fmla="*/ 0 h 1061547"/>
                <a:gd name="csX1" fmla="*/ 1066104 w 1066104"/>
                <a:gd name="csY1" fmla="*/ 0 h 1061547"/>
                <a:gd name="csX2" fmla="*/ 1066104 w 1066104"/>
                <a:gd name="csY2" fmla="*/ 1048005 h 1061547"/>
                <a:gd name="csX3" fmla="*/ 1002100 w 1066104"/>
                <a:gd name="csY3" fmla="*/ 1057152 h 1061547"/>
                <a:gd name="csX4" fmla="*/ 909145 w 1066104"/>
                <a:gd name="csY4" fmla="*/ 1061547 h 1061547"/>
                <a:gd name="csX5" fmla="*/ 0 w 1066104"/>
                <a:gd name="csY5" fmla="*/ 210209 h 1061547"/>
                <a:gd name="csX6" fmla="*/ 18471 w 1066104"/>
                <a:gd name="csY6" fmla="*/ 38635 h 10615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066104" h="1061547">
                  <a:moveTo>
                    <a:pt x="31278" y="0"/>
                  </a:moveTo>
                  <a:lnTo>
                    <a:pt x="1066104" y="0"/>
                  </a:lnTo>
                  <a:lnTo>
                    <a:pt x="1066104" y="1048005"/>
                  </a:lnTo>
                  <a:lnTo>
                    <a:pt x="1002100" y="1057152"/>
                  </a:lnTo>
                  <a:cubicBezTo>
                    <a:pt x="971537" y="1060058"/>
                    <a:pt x="940527" y="1061547"/>
                    <a:pt x="909145" y="1061547"/>
                  </a:cubicBezTo>
                  <a:cubicBezTo>
                    <a:pt x="407038" y="1061547"/>
                    <a:pt x="0" y="680390"/>
                    <a:pt x="0" y="210209"/>
                  </a:cubicBezTo>
                  <a:cubicBezTo>
                    <a:pt x="0" y="151437"/>
                    <a:pt x="6360" y="94055"/>
                    <a:pt x="18471" y="38635"/>
                  </a:cubicBezTo>
                  <a:close/>
                </a:path>
              </a:pathLst>
            </a:custGeom>
            <a:solidFill>
              <a:srgbClr val="02045E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/>
            </a:p>
          </p:txBody>
        </p:sp>
        <p:sp>
          <p:nvSpPr>
            <p:cNvPr id="19" name="Freihandform 18">
              <a:extLst>
                <a:ext uri="{FF2B5EF4-FFF2-40B4-BE49-F238E27FC236}">
                  <a16:creationId xmlns:a16="http://schemas.microsoft.com/office/drawing/2014/main" id="{9EEEB7C2-E34F-FA66-D347-ADA90777942B}"/>
                </a:ext>
              </a:extLst>
            </p:cNvPr>
            <p:cNvSpPr/>
            <p:nvPr/>
          </p:nvSpPr>
          <p:spPr>
            <a:xfrm>
              <a:off x="8529842" y="1"/>
              <a:ext cx="614159" cy="667409"/>
            </a:xfrm>
            <a:custGeom>
              <a:avLst/>
              <a:gdLst>
                <a:gd name="csX0" fmla="*/ 53431 w 614159"/>
                <a:gd name="csY0" fmla="*/ 0 h 667409"/>
                <a:gd name="csX1" fmla="*/ 614159 w 614159"/>
                <a:gd name="csY1" fmla="*/ 0 h 667409"/>
                <a:gd name="csX2" fmla="*/ 614159 w 614159"/>
                <a:gd name="csY2" fmla="*/ 638000 h 667409"/>
                <a:gd name="csX3" fmla="*/ 549342 w 614159"/>
                <a:gd name="csY3" fmla="*/ 658121 h 667409"/>
                <a:gd name="csX4" fmla="*/ 457200 w 614159"/>
                <a:gd name="csY4" fmla="*/ 667409 h 667409"/>
                <a:gd name="csX5" fmla="*/ 0 w 614159"/>
                <a:gd name="csY5" fmla="*/ 210209 h 667409"/>
                <a:gd name="csX6" fmla="*/ 35929 w 614159"/>
                <a:gd name="csY6" fmla="*/ 32246 h 6674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14159" h="667409">
                  <a:moveTo>
                    <a:pt x="53431" y="0"/>
                  </a:moveTo>
                  <a:lnTo>
                    <a:pt x="614159" y="0"/>
                  </a:lnTo>
                  <a:lnTo>
                    <a:pt x="614159" y="638000"/>
                  </a:lnTo>
                  <a:lnTo>
                    <a:pt x="549342" y="658121"/>
                  </a:lnTo>
                  <a:cubicBezTo>
                    <a:pt x="519579" y="664211"/>
                    <a:pt x="488763" y="667409"/>
                    <a:pt x="457200" y="667409"/>
                  </a:cubicBezTo>
                  <a:cubicBezTo>
                    <a:pt x="204695" y="667409"/>
                    <a:pt x="0" y="462714"/>
                    <a:pt x="0" y="210209"/>
                  </a:cubicBezTo>
                  <a:cubicBezTo>
                    <a:pt x="0" y="147083"/>
                    <a:pt x="12793" y="86945"/>
                    <a:pt x="35929" y="32246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4CD7D3CB-3342-0F70-5408-0F3BA14DAB5D}"/>
              </a:ext>
            </a:extLst>
          </p:cNvPr>
          <p:cNvSpPr txBox="1">
            <a:spLocks/>
          </p:cNvSpPr>
          <p:nvPr/>
        </p:nvSpPr>
        <p:spPr>
          <a:xfrm>
            <a:off x="1" y="1"/>
            <a:ext cx="5101935" cy="274638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b="1" noProof="0"/>
              <a:t>Hardware Tasks</a:t>
            </a:r>
          </a:p>
        </p:txBody>
      </p:sp>
      <p:sp>
        <p:nvSpPr>
          <p:cNvPr id="4" name="Rechteck: abgerundete Ecken 4">
            <a:extLst>
              <a:ext uri="{FF2B5EF4-FFF2-40B4-BE49-F238E27FC236}">
                <a16:creationId xmlns:a16="http://schemas.microsoft.com/office/drawing/2014/main" id="{9898D1D0-49C4-0FE6-A665-B5EBA42917F9}"/>
              </a:ext>
            </a:extLst>
          </p:cNvPr>
          <p:cNvSpPr/>
          <p:nvPr/>
        </p:nvSpPr>
        <p:spPr>
          <a:xfrm>
            <a:off x="457200" y="1543100"/>
            <a:ext cx="8229600" cy="3832261"/>
          </a:xfrm>
          <a:prstGeom prst="roundRect">
            <a:avLst>
              <a:gd name="adj" fmla="val 6005"/>
            </a:avLst>
          </a:prstGeom>
          <a:solidFill>
            <a:srgbClr val="1F45E5">
              <a:alpha val="10980"/>
            </a:srgb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26C6C0D-DCBC-FEA3-867B-A8CAA6ABB493}"/>
              </a:ext>
            </a:extLst>
          </p:cNvPr>
          <p:cNvSpPr>
            <a:spLocks noGrp="1"/>
          </p:cNvSpPr>
          <p:nvPr/>
        </p:nvSpPr>
        <p:spPr>
          <a:xfrm>
            <a:off x="706743" y="1570956"/>
            <a:ext cx="7680512" cy="3389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/>
            </a:pPr>
            <a:r>
              <a:rPr lang="en-US" b="1" noProof="0"/>
              <a:t>Started with design for 2 </a:t>
            </a:r>
            <a:r>
              <a:rPr lang="en-US" b="1" noProof="0" err="1"/>
              <a:t>DoF</a:t>
            </a:r>
            <a:r>
              <a:rPr lang="en-US" b="1" noProof="0"/>
              <a:t> Robot Arm </a:t>
            </a:r>
          </a:p>
          <a:p>
            <a:pPr>
              <a:defRPr sz="2000"/>
            </a:pPr>
            <a:endParaRPr lang="en-US" b="1" noProof="0"/>
          </a:p>
          <a:p>
            <a:pPr>
              <a:defRPr sz="2000"/>
            </a:pPr>
            <a:endParaRPr lang="en-US" b="1" noProof="0"/>
          </a:p>
          <a:p>
            <a:pPr marL="0" indent="0">
              <a:buNone/>
              <a:defRPr sz="2000"/>
            </a:pPr>
            <a:r>
              <a:rPr lang="en-US" sz="2800" b="1" noProof="0"/>
              <a:t>		</a:t>
            </a:r>
            <a:r>
              <a:rPr lang="en-US" b="1" noProof="0"/>
              <a:t>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6F5C649-1AAD-A6AB-95A0-E9CB7507A93F}"/>
              </a:ext>
            </a:extLst>
          </p:cNvPr>
          <p:cNvSpPr txBox="1">
            <a:spLocks/>
          </p:cNvSpPr>
          <p:nvPr/>
        </p:nvSpPr>
        <p:spPr>
          <a:xfrm>
            <a:off x="457200" y="440022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noProof="0">
                <a:solidFill>
                  <a:srgbClr val="1F45E5"/>
                </a:solidFill>
              </a:rPr>
              <a:t>Robot Arm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169DEE2-5259-04D2-EE2C-EAC742594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844" y="2023043"/>
            <a:ext cx="3368312" cy="312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172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3DC98-E6F3-9AF1-7314-94FB7AF76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ihandform 23">
            <a:extLst>
              <a:ext uri="{FF2B5EF4-FFF2-40B4-BE49-F238E27FC236}">
                <a16:creationId xmlns:a16="http://schemas.microsoft.com/office/drawing/2014/main" id="{59A31F66-F09A-F5AA-DDCD-8A5D9EF45E02}"/>
              </a:ext>
            </a:extLst>
          </p:cNvPr>
          <p:cNvSpPr/>
          <p:nvPr/>
        </p:nvSpPr>
        <p:spPr>
          <a:xfrm>
            <a:off x="5691388" y="5994473"/>
            <a:ext cx="1059729" cy="863526"/>
          </a:xfrm>
          <a:custGeom>
            <a:avLst/>
            <a:gdLst>
              <a:gd name="csX0" fmla="*/ 245733 w 1059729"/>
              <a:gd name="csY0" fmla="*/ 195 h 863526"/>
              <a:gd name="csX1" fmla="*/ 507414 w 1059729"/>
              <a:gd name="csY1" fmla="*/ 145604 h 863526"/>
              <a:gd name="csX2" fmla="*/ 1059729 w 1059729"/>
              <a:gd name="csY2" fmla="*/ 863526 h 863526"/>
              <a:gd name="csX3" fmla="*/ 380114 w 1059729"/>
              <a:gd name="csY3" fmla="*/ 863526 h 863526"/>
              <a:gd name="csX4" fmla="*/ 80482 w 1059729"/>
              <a:gd name="csY4" fmla="*/ 474053 h 863526"/>
              <a:gd name="csX5" fmla="*/ 91864 w 1059729"/>
              <a:gd name="csY5" fmla="*/ 47152 h 863526"/>
              <a:gd name="csX6" fmla="*/ 245733 w 1059729"/>
              <a:gd name="csY6" fmla="*/ 195 h 8635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59729" h="863526">
                <a:moveTo>
                  <a:pt x="245733" y="195"/>
                </a:moveTo>
                <a:cubicBezTo>
                  <a:pt x="338833" y="3719"/>
                  <a:pt x="437666" y="54942"/>
                  <a:pt x="507414" y="145604"/>
                </a:cubicBezTo>
                <a:lnTo>
                  <a:pt x="1059729" y="863526"/>
                </a:lnTo>
                <a:lnTo>
                  <a:pt x="380114" y="863526"/>
                </a:lnTo>
                <a:lnTo>
                  <a:pt x="80482" y="474053"/>
                </a:lnTo>
                <a:cubicBezTo>
                  <a:pt x="-31115" y="328995"/>
                  <a:pt x="-26036" y="137855"/>
                  <a:pt x="91864" y="47152"/>
                </a:cubicBezTo>
                <a:cubicBezTo>
                  <a:pt x="136077" y="13138"/>
                  <a:pt x="189873" y="-1920"/>
                  <a:pt x="245733" y="195"/>
                </a:cubicBezTo>
                <a:close/>
              </a:path>
            </a:pathLst>
          </a:custGeom>
          <a:solidFill>
            <a:srgbClr val="90E0E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2" name="Freihandform 21">
            <a:extLst>
              <a:ext uri="{FF2B5EF4-FFF2-40B4-BE49-F238E27FC236}">
                <a16:creationId xmlns:a16="http://schemas.microsoft.com/office/drawing/2014/main" id="{16851BBD-C4BA-4A31-A39E-030A3B53E6BD}"/>
              </a:ext>
            </a:extLst>
          </p:cNvPr>
          <p:cNvSpPr/>
          <p:nvPr/>
        </p:nvSpPr>
        <p:spPr>
          <a:xfrm>
            <a:off x="0" y="5540744"/>
            <a:ext cx="977408" cy="814132"/>
          </a:xfrm>
          <a:custGeom>
            <a:avLst/>
            <a:gdLst>
              <a:gd name="csX0" fmla="*/ 0 w 977408"/>
              <a:gd name="csY0" fmla="*/ 0 h 814132"/>
              <a:gd name="csX1" fmla="*/ 748707 w 977408"/>
              <a:gd name="csY1" fmla="*/ 284369 h 814132"/>
              <a:gd name="csX2" fmla="*/ 962900 w 977408"/>
              <a:gd name="csY2" fmla="*/ 653822 h 814132"/>
              <a:gd name="csX3" fmla="*/ 557449 w 977408"/>
              <a:gd name="csY3" fmla="*/ 787926 h 814132"/>
              <a:gd name="csX4" fmla="*/ 0 w 977408"/>
              <a:gd name="csY4" fmla="*/ 576199 h 8141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7408" h="814132">
                <a:moveTo>
                  <a:pt x="0" y="0"/>
                </a:moveTo>
                <a:lnTo>
                  <a:pt x="748707" y="284369"/>
                </a:lnTo>
                <a:cubicBezTo>
                  <a:pt x="919800" y="349353"/>
                  <a:pt x="1015717" y="514761"/>
                  <a:pt x="962900" y="653822"/>
                </a:cubicBezTo>
                <a:cubicBezTo>
                  <a:pt x="910082" y="792883"/>
                  <a:pt x="728542" y="852910"/>
                  <a:pt x="557449" y="787926"/>
                </a:cubicBezTo>
                <a:lnTo>
                  <a:pt x="0" y="576199"/>
                </a:lnTo>
                <a:close/>
              </a:path>
            </a:pathLst>
          </a:custGeom>
          <a:solidFill>
            <a:srgbClr val="00B4D8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22376BA3-B60B-2D10-8C4B-BCE93503B87F}"/>
              </a:ext>
            </a:extLst>
          </p:cNvPr>
          <p:cNvGrpSpPr/>
          <p:nvPr/>
        </p:nvGrpSpPr>
        <p:grpSpPr>
          <a:xfrm>
            <a:off x="8077896" y="1"/>
            <a:ext cx="1066105" cy="1061547"/>
            <a:chOff x="8077896" y="1"/>
            <a:chExt cx="1066105" cy="1061547"/>
          </a:xfrm>
        </p:grpSpPr>
        <p:sp>
          <p:nvSpPr>
            <p:cNvPr id="14" name="Freihandform 13">
              <a:extLst>
                <a:ext uri="{FF2B5EF4-FFF2-40B4-BE49-F238E27FC236}">
                  <a16:creationId xmlns:a16="http://schemas.microsoft.com/office/drawing/2014/main" id="{F1CE6A55-2A03-9969-E721-2BBE113716AC}"/>
                </a:ext>
              </a:extLst>
            </p:cNvPr>
            <p:cNvSpPr/>
            <p:nvPr/>
          </p:nvSpPr>
          <p:spPr>
            <a:xfrm>
              <a:off x="8077896" y="1"/>
              <a:ext cx="1066104" cy="1061547"/>
            </a:xfrm>
            <a:custGeom>
              <a:avLst/>
              <a:gdLst>
                <a:gd name="csX0" fmla="*/ 31278 w 1066104"/>
                <a:gd name="csY0" fmla="*/ 0 h 1061547"/>
                <a:gd name="csX1" fmla="*/ 1066104 w 1066104"/>
                <a:gd name="csY1" fmla="*/ 0 h 1061547"/>
                <a:gd name="csX2" fmla="*/ 1066104 w 1066104"/>
                <a:gd name="csY2" fmla="*/ 1048005 h 1061547"/>
                <a:gd name="csX3" fmla="*/ 1002100 w 1066104"/>
                <a:gd name="csY3" fmla="*/ 1057152 h 1061547"/>
                <a:gd name="csX4" fmla="*/ 909145 w 1066104"/>
                <a:gd name="csY4" fmla="*/ 1061547 h 1061547"/>
                <a:gd name="csX5" fmla="*/ 0 w 1066104"/>
                <a:gd name="csY5" fmla="*/ 210209 h 1061547"/>
                <a:gd name="csX6" fmla="*/ 18471 w 1066104"/>
                <a:gd name="csY6" fmla="*/ 38635 h 10615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066104" h="1061547">
                  <a:moveTo>
                    <a:pt x="31278" y="0"/>
                  </a:moveTo>
                  <a:lnTo>
                    <a:pt x="1066104" y="0"/>
                  </a:lnTo>
                  <a:lnTo>
                    <a:pt x="1066104" y="1048005"/>
                  </a:lnTo>
                  <a:lnTo>
                    <a:pt x="1002100" y="1057152"/>
                  </a:lnTo>
                  <a:cubicBezTo>
                    <a:pt x="971537" y="1060058"/>
                    <a:pt x="940527" y="1061547"/>
                    <a:pt x="909145" y="1061547"/>
                  </a:cubicBezTo>
                  <a:cubicBezTo>
                    <a:pt x="407038" y="1061547"/>
                    <a:pt x="0" y="680390"/>
                    <a:pt x="0" y="210209"/>
                  </a:cubicBezTo>
                  <a:cubicBezTo>
                    <a:pt x="0" y="151437"/>
                    <a:pt x="6360" y="94055"/>
                    <a:pt x="18471" y="38635"/>
                  </a:cubicBezTo>
                  <a:close/>
                </a:path>
              </a:pathLst>
            </a:custGeom>
            <a:solidFill>
              <a:srgbClr val="02045E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/>
            </a:p>
          </p:txBody>
        </p:sp>
        <p:sp>
          <p:nvSpPr>
            <p:cNvPr id="19" name="Freihandform 18">
              <a:extLst>
                <a:ext uri="{FF2B5EF4-FFF2-40B4-BE49-F238E27FC236}">
                  <a16:creationId xmlns:a16="http://schemas.microsoft.com/office/drawing/2014/main" id="{E834172D-4B03-5113-E8D0-428CDBD168CD}"/>
                </a:ext>
              </a:extLst>
            </p:cNvPr>
            <p:cNvSpPr/>
            <p:nvPr/>
          </p:nvSpPr>
          <p:spPr>
            <a:xfrm>
              <a:off x="8529842" y="1"/>
              <a:ext cx="614159" cy="667409"/>
            </a:xfrm>
            <a:custGeom>
              <a:avLst/>
              <a:gdLst>
                <a:gd name="csX0" fmla="*/ 53431 w 614159"/>
                <a:gd name="csY0" fmla="*/ 0 h 667409"/>
                <a:gd name="csX1" fmla="*/ 614159 w 614159"/>
                <a:gd name="csY1" fmla="*/ 0 h 667409"/>
                <a:gd name="csX2" fmla="*/ 614159 w 614159"/>
                <a:gd name="csY2" fmla="*/ 638000 h 667409"/>
                <a:gd name="csX3" fmla="*/ 549342 w 614159"/>
                <a:gd name="csY3" fmla="*/ 658121 h 667409"/>
                <a:gd name="csX4" fmla="*/ 457200 w 614159"/>
                <a:gd name="csY4" fmla="*/ 667409 h 667409"/>
                <a:gd name="csX5" fmla="*/ 0 w 614159"/>
                <a:gd name="csY5" fmla="*/ 210209 h 667409"/>
                <a:gd name="csX6" fmla="*/ 35929 w 614159"/>
                <a:gd name="csY6" fmla="*/ 32246 h 6674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14159" h="667409">
                  <a:moveTo>
                    <a:pt x="53431" y="0"/>
                  </a:moveTo>
                  <a:lnTo>
                    <a:pt x="614159" y="0"/>
                  </a:lnTo>
                  <a:lnTo>
                    <a:pt x="614159" y="638000"/>
                  </a:lnTo>
                  <a:lnTo>
                    <a:pt x="549342" y="658121"/>
                  </a:lnTo>
                  <a:cubicBezTo>
                    <a:pt x="519579" y="664211"/>
                    <a:pt x="488763" y="667409"/>
                    <a:pt x="457200" y="667409"/>
                  </a:cubicBezTo>
                  <a:cubicBezTo>
                    <a:pt x="204695" y="667409"/>
                    <a:pt x="0" y="462714"/>
                    <a:pt x="0" y="210209"/>
                  </a:cubicBezTo>
                  <a:cubicBezTo>
                    <a:pt x="0" y="147083"/>
                    <a:pt x="12793" y="86945"/>
                    <a:pt x="35929" y="32246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106C192B-18B0-09CD-0D09-60A42E367B78}"/>
              </a:ext>
            </a:extLst>
          </p:cNvPr>
          <p:cNvSpPr txBox="1">
            <a:spLocks/>
          </p:cNvSpPr>
          <p:nvPr/>
        </p:nvSpPr>
        <p:spPr>
          <a:xfrm>
            <a:off x="1" y="1"/>
            <a:ext cx="5101935" cy="27463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b="1"/>
              <a:t>Ros2 and Gazebo Tasks</a:t>
            </a:r>
            <a:endParaRPr lang="en-US" sz="1600" b="1" noProof="0"/>
          </a:p>
        </p:txBody>
      </p:sp>
      <p:sp>
        <p:nvSpPr>
          <p:cNvPr id="4" name="Rechteck: abgerundete Ecken 4">
            <a:extLst>
              <a:ext uri="{FF2B5EF4-FFF2-40B4-BE49-F238E27FC236}">
                <a16:creationId xmlns:a16="http://schemas.microsoft.com/office/drawing/2014/main" id="{8AE90C25-6C46-94D0-B6C2-8396FEAD1091}"/>
              </a:ext>
            </a:extLst>
          </p:cNvPr>
          <p:cNvSpPr/>
          <p:nvPr/>
        </p:nvSpPr>
        <p:spPr>
          <a:xfrm>
            <a:off x="457200" y="1543100"/>
            <a:ext cx="8229600" cy="3832261"/>
          </a:xfrm>
          <a:prstGeom prst="roundRect">
            <a:avLst>
              <a:gd name="adj" fmla="val 6005"/>
            </a:avLst>
          </a:prstGeom>
          <a:solidFill>
            <a:srgbClr val="1F45E5">
              <a:alpha val="10980"/>
            </a:srgb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DCD9D60-D055-DEE3-9DB9-456F4FB75B88}"/>
              </a:ext>
            </a:extLst>
          </p:cNvPr>
          <p:cNvSpPr>
            <a:spLocks noGrp="1"/>
          </p:cNvSpPr>
          <p:nvPr/>
        </p:nvSpPr>
        <p:spPr>
          <a:xfrm>
            <a:off x="706743" y="1570956"/>
            <a:ext cx="7680512" cy="33899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/>
            </a:pPr>
            <a:r>
              <a:rPr lang="en-US" b="1"/>
              <a:t>RVIZ with robot with a simulated lidar sensor </a:t>
            </a:r>
            <a:r>
              <a:rPr lang="en-US" b="1" noProof="0"/>
              <a:t> </a:t>
            </a:r>
          </a:p>
          <a:p>
            <a:pPr>
              <a:defRPr sz="2000"/>
            </a:pPr>
            <a:endParaRPr lang="en-US" b="1" noProof="0"/>
          </a:p>
          <a:p>
            <a:pPr>
              <a:defRPr sz="2000"/>
            </a:pPr>
            <a:endParaRPr lang="en-US" b="1" noProof="0"/>
          </a:p>
          <a:p>
            <a:pPr marL="0" indent="0">
              <a:buNone/>
              <a:defRPr sz="2000"/>
            </a:pPr>
            <a:r>
              <a:rPr lang="en-US" sz="2800" b="1" noProof="0"/>
              <a:t>		</a:t>
            </a:r>
            <a:r>
              <a:rPr lang="en-US" b="1" noProof="0"/>
              <a:t>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5D4D9BF-C034-34D0-8C6F-6426E0D807B5}"/>
              </a:ext>
            </a:extLst>
          </p:cNvPr>
          <p:cNvSpPr txBox="1">
            <a:spLocks/>
          </p:cNvSpPr>
          <p:nvPr/>
        </p:nvSpPr>
        <p:spPr>
          <a:xfrm>
            <a:off x="457200" y="440022"/>
            <a:ext cx="8229600" cy="114300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>
                <a:solidFill>
                  <a:srgbClr val="1F45E5"/>
                </a:solidFill>
              </a:rPr>
              <a:t>RVIZ and Gazebo</a:t>
            </a:r>
            <a:endParaRPr lang="en-US" sz="3600" b="1" noProof="0">
              <a:solidFill>
                <a:srgbClr val="1F45E5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49EB24-A20F-6FD6-B492-6F7E5678D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560" y="2199896"/>
            <a:ext cx="3156880" cy="317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154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1FE31-A2D4-3CC6-C406-7DFFFB3BD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ihandform 23">
            <a:extLst>
              <a:ext uri="{FF2B5EF4-FFF2-40B4-BE49-F238E27FC236}">
                <a16:creationId xmlns:a16="http://schemas.microsoft.com/office/drawing/2014/main" id="{5DADFF83-5B68-2C8E-8761-498DF1F31B4B}"/>
              </a:ext>
            </a:extLst>
          </p:cNvPr>
          <p:cNvSpPr/>
          <p:nvPr/>
        </p:nvSpPr>
        <p:spPr>
          <a:xfrm>
            <a:off x="5691388" y="5994473"/>
            <a:ext cx="1059729" cy="863526"/>
          </a:xfrm>
          <a:custGeom>
            <a:avLst/>
            <a:gdLst>
              <a:gd name="csX0" fmla="*/ 245733 w 1059729"/>
              <a:gd name="csY0" fmla="*/ 195 h 863526"/>
              <a:gd name="csX1" fmla="*/ 507414 w 1059729"/>
              <a:gd name="csY1" fmla="*/ 145604 h 863526"/>
              <a:gd name="csX2" fmla="*/ 1059729 w 1059729"/>
              <a:gd name="csY2" fmla="*/ 863526 h 863526"/>
              <a:gd name="csX3" fmla="*/ 380114 w 1059729"/>
              <a:gd name="csY3" fmla="*/ 863526 h 863526"/>
              <a:gd name="csX4" fmla="*/ 80482 w 1059729"/>
              <a:gd name="csY4" fmla="*/ 474053 h 863526"/>
              <a:gd name="csX5" fmla="*/ 91864 w 1059729"/>
              <a:gd name="csY5" fmla="*/ 47152 h 863526"/>
              <a:gd name="csX6" fmla="*/ 245733 w 1059729"/>
              <a:gd name="csY6" fmla="*/ 195 h 8635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59729" h="863526">
                <a:moveTo>
                  <a:pt x="245733" y="195"/>
                </a:moveTo>
                <a:cubicBezTo>
                  <a:pt x="338833" y="3719"/>
                  <a:pt x="437666" y="54942"/>
                  <a:pt x="507414" y="145604"/>
                </a:cubicBezTo>
                <a:lnTo>
                  <a:pt x="1059729" y="863526"/>
                </a:lnTo>
                <a:lnTo>
                  <a:pt x="380114" y="863526"/>
                </a:lnTo>
                <a:lnTo>
                  <a:pt x="80482" y="474053"/>
                </a:lnTo>
                <a:cubicBezTo>
                  <a:pt x="-31115" y="328995"/>
                  <a:pt x="-26036" y="137855"/>
                  <a:pt x="91864" y="47152"/>
                </a:cubicBezTo>
                <a:cubicBezTo>
                  <a:pt x="136077" y="13138"/>
                  <a:pt x="189873" y="-1920"/>
                  <a:pt x="245733" y="195"/>
                </a:cubicBezTo>
                <a:close/>
              </a:path>
            </a:pathLst>
          </a:custGeom>
          <a:solidFill>
            <a:srgbClr val="90E0E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2" name="Freihandform 21">
            <a:extLst>
              <a:ext uri="{FF2B5EF4-FFF2-40B4-BE49-F238E27FC236}">
                <a16:creationId xmlns:a16="http://schemas.microsoft.com/office/drawing/2014/main" id="{B5F8D76C-E090-B6BA-5EDE-00DF2856A131}"/>
              </a:ext>
            </a:extLst>
          </p:cNvPr>
          <p:cNvSpPr/>
          <p:nvPr/>
        </p:nvSpPr>
        <p:spPr>
          <a:xfrm>
            <a:off x="0" y="5540744"/>
            <a:ext cx="977408" cy="814132"/>
          </a:xfrm>
          <a:custGeom>
            <a:avLst/>
            <a:gdLst>
              <a:gd name="csX0" fmla="*/ 0 w 977408"/>
              <a:gd name="csY0" fmla="*/ 0 h 814132"/>
              <a:gd name="csX1" fmla="*/ 748707 w 977408"/>
              <a:gd name="csY1" fmla="*/ 284369 h 814132"/>
              <a:gd name="csX2" fmla="*/ 962900 w 977408"/>
              <a:gd name="csY2" fmla="*/ 653822 h 814132"/>
              <a:gd name="csX3" fmla="*/ 557449 w 977408"/>
              <a:gd name="csY3" fmla="*/ 787926 h 814132"/>
              <a:gd name="csX4" fmla="*/ 0 w 977408"/>
              <a:gd name="csY4" fmla="*/ 576199 h 8141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7408" h="814132">
                <a:moveTo>
                  <a:pt x="0" y="0"/>
                </a:moveTo>
                <a:lnTo>
                  <a:pt x="748707" y="284369"/>
                </a:lnTo>
                <a:cubicBezTo>
                  <a:pt x="919800" y="349353"/>
                  <a:pt x="1015717" y="514761"/>
                  <a:pt x="962900" y="653822"/>
                </a:cubicBezTo>
                <a:cubicBezTo>
                  <a:pt x="910082" y="792883"/>
                  <a:pt x="728542" y="852910"/>
                  <a:pt x="557449" y="787926"/>
                </a:cubicBezTo>
                <a:lnTo>
                  <a:pt x="0" y="576199"/>
                </a:lnTo>
                <a:close/>
              </a:path>
            </a:pathLst>
          </a:custGeom>
          <a:solidFill>
            <a:srgbClr val="00B4D8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26E11DA2-39C2-C890-CC0A-470CC780E2A1}"/>
              </a:ext>
            </a:extLst>
          </p:cNvPr>
          <p:cNvGrpSpPr/>
          <p:nvPr/>
        </p:nvGrpSpPr>
        <p:grpSpPr>
          <a:xfrm>
            <a:off x="8077896" y="1"/>
            <a:ext cx="1066105" cy="1061547"/>
            <a:chOff x="8077896" y="1"/>
            <a:chExt cx="1066105" cy="1061547"/>
          </a:xfrm>
        </p:grpSpPr>
        <p:sp>
          <p:nvSpPr>
            <p:cNvPr id="14" name="Freihandform 13">
              <a:extLst>
                <a:ext uri="{FF2B5EF4-FFF2-40B4-BE49-F238E27FC236}">
                  <a16:creationId xmlns:a16="http://schemas.microsoft.com/office/drawing/2014/main" id="{65CB5C79-2DC3-DF0A-B5B2-BC5E9829D4C2}"/>
                </a:ext>
              </a:extLst>
            </p:cNvPr>
            <p:cNvSpPr/>
            <p:nvPr/>
          </p:nvSpPr>
          <p:spPr>
            <a:xfrm>
              <a:off x="8077896" y="1"/>
              <a:ext cx="1066104" cy="1061547"/>
            </a:xfrm>
            <a:custGeom>
              <a:avLst/>
              <a:gdLst>
                <a:gd name="csX0" fmla="*/ 31278 w 1066104"/>
                <a:gd name="csY0" fmla="*/ 0 h 1061547"/>
                <a:gd name="csX1" fmla="*/ 1066104 w 1066104"/>
                <a:gd name="csY1" fmla="*/ 0 h 1061547"/>
                <a:gd name="csX2" fmla="*/ 1066104 w 1066104"/>
                <a:gd name="csY2" fmla="*/ 1048005 h 1061547"/>
                <a:gd name="csX3" fmla="*/ 1002100 w 1066104"/>
                <a:gd name="csY3" fmla="*/ 1057152 h 1061547"/>
                <a:gd name="csX4" fmla="*/ 909145 w 1066104"/>
                <a:gd name="csY4" fmla="*/ 1061547 h 1061547"/>
                <a:gd name="csX5" fmla="*/ 0 w 1066104"/>
                <a:gd name="csY5" fmla="*/ 210209 h 1061547"/>
                <a:gd name="csX6" fmla="*/ 18471 w 1066104"/>
                <a:gd name="csY6" fmla="*/ 38635 h 10615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066104" h="1061547">
                  <a:moveTo>
                    <a:pt x="31278" y="0"/>
                  </a:moveTo>
                  <a:lnTo>
                    <a:pt x="1066104" y="0"/>
                  </a:lnTo>
                  <a:lnTo>
                    <a:pt x="1066104" y="1048005"/>
                  </a:lnTo>
                  <a:lnTo>
                    <a:pt x="1002100" y="1057152"/>
                  </a:lnTo>
                  <a:cubicBezTo>
                    <a:pt x="971537" y="1060058"/>
                    <a:pt x="940527" y="1061547"/>
                    <a:pt x="909145" y="1061547"/>
                  </a:cubicBezTo>
                  <a:cubicBezTo>
                    <a:pt x="407038" y="1061547"/>
                    <a:pt x="0" y="680390"/>
                    <a:pt x="0" y="210209"/>
                  </a:cubicBezTo>
                  <a:cubicBezTo>
                    <a:pt x="0" y="151437"/>
                    <a:pt x="6360" y="94055"/>
                    <a:pt x="18471" y="38635"/>
                  </a:cubicBezTo>
                  <a:close/>
                </a:path>
              </a:pathLst>
            </a:custGeom>
            <a:solidFill>
              <a:srgbClr val="02045E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/>
            </a:p>
          </p:txBody>
        </p:sp>
        <p:sp>
          <p:nvSpPr>
            <p:cNvPr id="19" name="Freihandform 18">
              <a:extLst>
                <a:ext uri="{FF2B5EF4-FFF2-40B4-BE49-F238E27FC236}">
                  <a16:creationId xmlns:a16="http://schemas.microsoft.com/office/drawing/2014/main" id="{53FD17DC-6BF5-1A6F-8F18-EAC817B4F06A}"/>
                </a:ext>
              </a:extLst>
            </p:cNvPr>
            <p:cNvSpPr/>
            <p:nvPr/>
          </p:nvSpPr>
          <p:spPr>
            <a:xfrm>
              <a:off x="8529842" y="1"/>
              <a:ext cx="614159" cy="667409"/>
            </a:xfrm>
            <a:custGeom>
              <a:avLst/>
              <a:gdLst>
                <a:gd name="csX0" fmla="*/ 53431 w 614159"/>
                <a:gd name="csY0" fmla="*/ 0 h 667409"/>
                <a:gd name="csX1" fmla="*/ 614159 w 614159"/>
                <a:gd name="csY1" fmla="*/ 0 h 667409"/>
                <a:gd name="csX2" fmla="*/ 614159 w 614159"/>
                <a:gd name="csY2" fmla="*/ 638000 h 667409"/>
                <a:gd name="csX3" fmla="*/ 549342 w 614159"/>
                <a:gd name="csY3" fmla="*/ 658121 h 667409"/>
                <a:gd name="csX4" fmla="*/ 457200 w 614159"/>
                <a:gd name="csY4" fmla="*/ 667409 h 667409"/>
                <a:gd name="csX5" fmla="*/ 0 w 614159"/>
                <a:gd name="csY5" fmla="*/ 210209 h 667409"/>
                <a:gd name="csX6" fmla="*/ 35929 w 614159"/>
                <a:gd name="csY6" fmla="*/ 32246 h 6674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14159" h="667409">
                  <a:moveTo>
                    <a:pt x="53431" y="0"/>
                  </a:moveTo>
                  <a:lnTo>
                    <a:pt x="614159" y="0"/>
                  </a:lnTo>
                  <a:lnTo>
                    <a:pt x="614159" y="638000"/>
                  </a:lnTo>
                  <a:lnTo>
                    <a:pt x="549342" y="658121"/>
                  </a:lnTo>
                  <a:cubicBezTo>
                    <a:pt x="519579" y="664211"/>
                    <a:pt x="488763" y="667409"/>
                    <a:pt x="457200" y="667409"/>
                  </a:cubicBezTo>
                  <a:cubicBezTo>
                    <a:pt x="204695" y="667409"/>
                    <a:pt x="0" y="462714"/>
                    <a:pt x="0" y="210209"/>
                  </a:cubicBezTo>
                  <a:cubicBezTo>
                    <a:pt x="0" y="147083"/>
                    <a:pt x="12793" y="86945"/>
                    <a:pt x="35929" y="32246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ED5C2A9B-A851-E02B-1C80-4CBD7AAD090D}"/>
              </a:ext>
            </a:extLst>
          </p:cNvPr>
          <p:cNvSpPr txBox="1">
            <a:spLocks/>
          </p:cNvSpPr>
          <p:nvPr/>
        </p:nvSpPr>
        <p:spPr>
          <a:xfrm>
            <a:off x="1" y="1"/>
            <a:ext cx="5101935" cy="27463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b="1"/>
              <a:t>Ros2 and Gazebo Tasks</a:t>
            </a:r>
            <a:endParaRPr lang="en-US" sz="1600" b="1" noProof="0"/>
          </a:p>
        </p:txBody>
      </p:sp>
      <p:sp>
        <p:nvSpPr>
          <p:cNvPr id="4" name="Rechteck: abgerundete Ecken 4">
            <a:extLst>
              <a:ext uri="{FF2B5EF4-FFF2-40B4-BE49-F238E27FC236}">
                <a16:creationId xmlns:a16="http://schemas.microsoft.com/office/drawing/2014/main" id="{ED4FD74A-0F7C-3389-55FA-4A453AC58A2F}"/>
              </a:ext>
            </a:extLst>
          </p:cNvPr>
          <p:cNvSpPr/>
          <p:nvPr/>
        </p:nvSpPr>
        <p:spPr>
          <a:xfrm>
            <a:off x="457200" y="1543100"/>
            <a:ext cx="8229600" cy="3832261"/>
          </a:xfrm>
          <a:prstGeom prst="roundRect">
            <a:avLst>
              <a:gd name="adj" fmla="val 6005"/>
            </a:avLst>
          </a:prstGeom>
          <a:solidFill>
            <a:srgbClr val="1F45E5">
              <a:alpha val="10980"/>
            </a:srgb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C2CDD4-8B98-0D87-2E3C-9560AC461967}"/>
              </a:ext>
            </a:extLst>
          </p:cNvPr>
          <p:cNvSpPr>
            <a:spLocks noGrp="1"/>
          </p:cNvSpPr>
          <p:nvPr/>
        </p:nvSpPr>
        <p:spPr>
          <a:xfrm>
            <a:off x="706743" y="1581346"/>
            <a:ext cx="7680512" cy="382634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/>
            </a:pPr>
            <a:r>
              <a:rPr lang="en-US" b="1"/>
              <a:t>Nav2 navigation showcase </a:t>
            </a:r>
            <a:r>
              <a:rPr lang="en-US" b="1" noProof="0"/>
              <a:t> </a:t>
            </a:r>
          </a:p>
          <a:p>
            <a:pPr>
              <a:defRPr sz="2000"/>
            </a:pPr>
            <a:endParaRPr lang="en-US" b="1" noProof="0"/>
          </a:p>
          <a:p>
            <a:pPr>
              <a:defRPr sz="2000"/>
            </a:pPr>
            <a:endParaRPr lang="en-US" b="1" noProof="0"/>
          </a:p>
          <a:p>
            <a:pPr marL="0" indent="0">
              <a:buNone/>
              <a:defRPr sz="2000"/>
            </a:pPr>
            <a:r>
              <a:rPr lang="en-US" sz="2800" b="1" noProof="0"/>
              <a:t>		</a:t>
            </a:r>
            <a:r>
              <a:rPr lang="en-US" b="1" noProof="0"/>
              <a:t>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04A69EC-B8F4-BED3-D0B0-F85FA51466D5}"/>
              </a:ext>
            </a:extLst>
          </p:cNvPr>
          <p:cNvSpPr txBox="1">
            <a:spLocks/>
          </p:cNvSpPr>
          <p:nvPr/>
        </p:nvSpPr>
        <p:spPr>
          <a:xfrm>
            <a:off x="457200" y="440022"/>
            <a:ext cx="8229600" cy="114300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>
                <a:solidFill>
                  <a:srgbClr val="1F45E5"/>
                </a:solidFill>
                <a:ea typeface="Calibri"/>
                <a:cs typeface="Calibri"/>
              </a:rPr>
              <a:t>Nav2 navigation</a:t>
            </a:r>
            <a:endParaRPr lang="en-US" sz="3600" b="1" noProof="0">
              <a:solidFill>
                <a:srgbClr val="1F45E5"/>
              </a:solidFill>
            </a:endParaRPr>
          </a:p>
        </p:txBody>
      </p:sp>
      <p:pic>
        <p:nvPicPr>
          <p:cNvPr id="2" name="output">
            <a:hlinkClick r:id="" action="ppaction://media"/>
            <a:extLst>
              <a:ext uri="{FF2B5EF4-FFF2-40B4-BE49-F238E27FC236}">
                <a16:creationId xmlns:a16="http://schemas.microsoft.com/office/drawing/2014/main" id="{433661C3-E554-240A-A119-DDC29BCE016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83427" y="2066058"/>
            <a:ext cx="4125192" cy="314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484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BEF62-314B-2C93-09C2-18B47227D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ihandform 23">
            <a:extLst>
              <a:ext uri="{FF2B5EF4-FFF2-40B4-BE49-F238E27FC236}">
                <a16:creationId xmlns:a16="http://schemas.microsoft.com/office/drawing/2014/main" id="{E3777FBD-50F5-4B63-2078-EA2DF456E36E}"/>
              </a:ext>
            </a:extLst>
          </p:cNvPr>
          <p:cNvSpPr/>
          <p:nvPr/>
        </p:nvSpPr>
        <p:spPr>
          <a:xfrm>
            <a:off x="5691388" y="5994473"/>
            <a:ext cx="1059729" cy="863526"/>
          </a:xfrm>
          <a:custGeom>
            <a:avLst/>
            <a:gdLst>
              <a:gd name="csX0" fmla="*/ 245733 w 1059729"/>
              <a:gd name="csY0" fmla="*/ 195 h 863526"/>
              <a:gd name="csX1" fmla="*/ 507414 w 1059729"/>
              <a:gd name="csY1" fmla="*/ 145604 h 863526"/>
              <a:gd name="csX2" fmla="*/ 1059729 w 1059729"/>
              <a:gd name="csY2" fmla="*/ 863526 h 863526"/>
              <a:gd name="csX3" fmla="*/ 380114 w 1059729"/>
              <a:gd name="csY3" fmla="*/ 863526 h 863526"/>
              <a:gd name="csX4" fmla="*/ 80482 w 1059729"/>
              <a:gd name="csY4" fmla="*/ 474053 h 863526"/>
              <a:gd name="csX5" fmla="*/ 91864 w 1059729"/>
              <a:gd name="csY5" fmla="*/ 47152 h 863526"/>
              <a:gd name="csX6" fmla="*/ 245733 w 1059729"/>
              <a:gd name="csY6" fmla="*/ 195 h 8635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59729" h="863526">
                <a:moveTo>
                  <a:pt x="245733" y="195"/>
                </a:moveTo>
                <a:cubicBezTo>
                  <a:pt x="338833" y="3719"/>
                  <a:pt x="437666" y="54942"/>
                  <a:pt x="507414" y="145604"/>
                </a:cubicBezTo>
                <a:lnTo>
                  <a:pt x="1059729" y="863526"/>
                </a:lnTo>
                <a:lnTo>
                  <a:pt x="380114" y="863526"/>
                </a:lnTo>
                <a:lnTo>
                  <a:pt x="80482" y="474053"/>
                </a:lnTo>
                <a:cubicBezTo>
                  <a:pt x="-31115" y="328995"/>
                  <a:pt x="-26036" y="137855"/>
                  <a:pt x="91864" y="47152"/>
                </a:cubicBezTo>
                <a:cubicBezTo>
                  <a:pt x="136077" y="13138"/>
                  <a:pt x="189873" y="-1920"/>
                  <a:pt x="245733" y="195"/>
                </a:cubicBezTo>
                <a:close/>
              </a:path>
            </a:pathLst>
          </a:custGeom>
          <a:solidFill>
            <a:srgbClr val="90E0E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2" name="Freihandform 21">
            <a:extLst>
              <a:ext uri="{FF2B5EF4-FFF2-40B4-BE49-F238E27FC236}">
                <a16:creationId xmlns:a16="http://schemas.microsoft.com/office/drawing/2014/main" id="{F4A0FC8F-7D21-3EC4-4FC9-8D12104E01E7}"/>
              </a:ext>
            </a:extLst>
          </p:cNvPr>
          <p:cNvSpPr/>
          <p:nvPr/>
        </p:nvSpPr>
        <p:spPr>
          <a:xfrm>
            <a:off x="0" y="5540744"/>
            <a:ext cx="977408" cy="814132"/>
          </a:xfrm>
          <a:custGeom>
            <a:avLst/>
            <a:gdLst>
              <a:gd name="csX0" fmla="*/ 0 w 977408"/>
              <a:gd name="csY0" fmla="*/ 0 h 814132"/>
              <a:gd name="csX1" fmla="*/ 748707 w 977408"/>
              <a:gd name="csY1" fmla="*/ 284369 h 814132"/>
              <a:gd name="csX2" fmla="*/ 962900 w 977408"/>
              <a:gd name="csY2" fmla="*/ 653822 h 814132"/>
              <a:gd name="csX3" fmla="*/ 557449 w 977408"/>
              <a:gd name="csY3" fmla="*/ 787926 h 814132"/>
              <a:gd name="csX4" fmla="*/ 0 w 977408"/>
              <a:gd name="csY4" fmla="*/ 576199 h 8141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77408" h="814132">
                <a:moveTo>
                  <a:pt x="0" y="0"/>
                </a:moveTo>
                <a:lnTo>
                  <a:pt x="748707" y="284369"/>
                </a:lnTo>
                <a:cubicBezTo>
                  <a:pt x="919800" y="349353"/>
                  <a:pt x="1015717" y="514761"/>
                  <a:pt x="962900" y="653822"/>
                </a:cubicBezTo>
                <a:cubicBezTo>
                  <a:pt x="910082" y="792883"/>
                  <a:pt x="728542" y="852910"/>
                  <a:pt x="557449" y="787926"/>
                </a:cubicBezTo>
                <a:lnTo>
                  <a:pt x="0" y="576199"/>
                </a:lnTo>
                <a:close/>
              </a:path>
            </a:pathLst>
          </a:custGeom>
          <a:solidFill>
            <a:srgbClr val="00B4D8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866B508D-AC1B-BB84-7971-D96BA5D34B0F}"/>
              </a:ext>
            </a:extLst>
          </p:cNvPr>
          <p:cNvGrpSpPr/>
          <p:nvPr/>
        </p:nvGrpSpPr>
        <p:grpSpPr>
          <a:xfrm>
            <a:off x="8077896" y="1"/>
            <a:ext cx="1066105" cy="1061547"/>
            <a:chOff x="8077896" y="1"/>
            <a:chExt cx="1066105" cy="1061547"/>
          </a:xfrm>
        </p:grpSpPr>
        <p:sp>
          <p:nvSpPr>
            <p:cNvPr id="14" name="Freihandform 13">
              <a:extLst>
                <a:ext uri="{FF2B5EF4-FFF2-40B4-BE49-F238E27FC236}">
                  <a16:creationId xmlns:a16="http://schemas.microsoft.com/office/drawing/2014/main" id="{6E31E7E0-4A97-CF82-7D24-5A37884E795F}"/>
                </a:ext>
              </a:extLst>
            </p:cNvPr>
            <p:cNvSpPr/>
            <p:nvPr/>
          </p:nvSpPr>
          <p:spPr>
            <a:xfrm>
              <a:off x="8077896" y="1"/>
              <a:ext cx="1066104" cy="1061547"/>
            </a:xfrm>
            <a:custGeom>
              <a:avLst/>
              <a:gdLst>
                <a:gd name="csX0" fmla="*/ 31278 w 1066104"/>
                <a:gd name="csY0" fmla="*/ 0 h 1061547"/>
                <a:gd name="csX1" fmla="*/ 1066104 w 1066104"/>
                <a:gd name="csY1" fmla="*/ 0 h 1061547"/>
                <a:gd name="csX2" fmla="*/ 1066104 w 1066104"/>
                <a:gd name="csY2" fmla="*/ 1048005 h 1061547"/>
                <a:gd name="csX3" fmla="*/ 1002100 w 1066104"/>
                <a:gd name="csY3" fmla="*/ 1057152 h 1061547"/>
                <a:gd name="csX4" fmla="*/ 909145 w 1066104"/>
                <a:gd name="csY4" fmla="*/ 1061547 h 1061547"/>
                <a:gd name="csX5" fmla="*/ 0 w 1066104"/>
                <a:gd name="csY5" fmla="*/ 210209 h 1061547"/>
                <a:gd name="csX6" fmla="*/ 18471 w 1066104"/>
                <a:gd name="csY6" fmla="*/ 38635 h 10615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066104" h="1061547">
                  <a:moveTo>
                    <a:pt x="31278" y="0"/>
                  </a:moveTo>
                  <a:lnTo>
                    <a:pt x="1066104" y="0"/>
                  </a:lnTo>
                  <a:lnTo>
                    <a:pt x="1066104" y="1048005"/>
                  </a:lnTo>
                  <a:lnTo>
                    <a:pt x="1002100" y="1057152"/>
                  </a:lnTo>
                  <a:cubicBezTo>
                    <a:pt x="971537" y="1060058"/>
                    <a:pt x="940527" y="1061547"/>
                    <a:pt x="909145" y="1061547"/>
                  </a:cubicBezTo>
                  <a:cubicBezTo>
                    <a:pt x="407038" y="1061547"/>
                    <a:pt x="0" y="680390"/>
                    <a:pt x="0" y="210209"/>
                  </a:cubicBezTo>
                  <a:cubicBezTo>
                    <a:pt x="0" y="151437"/>
                    <a:pt x="6360" y="94055"/>
                    <a:pt x="18471" y="38635"/>
                  </a:cubicBezTo>
                  <a:close/>
                </a:path>
              </a:pathLst>
            </a:custGeom>
            <a:solidFill>
              <a:srgbClr val="02045E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/>
            </a:p>
          </p:txBody>
        </p:sp>
        <p:sp>
          <p:nvSpPr>
            <p:cNvPr id="19" name="Freihandform 18">
              <a:extLst>
                <a:ext uri="{FF2B5EF4-FFF2-40B4-BE49-F238E27FC236}">
                  <a16:creationId xmlns:a16="http://schemas.microsoft.com/office/drawing/2014/main" id="{96B7559D-98E2-9221-B1BE-54519521E14F}"/>
                </a:ext>
              </a:extLst>
            </p:cNvPr>
            <p:cNvSpPr/>
            <p:nvPr/>
          </p:nvSpPr>
          <p:spPr>
            <a:xfrm>
              <a:off x="8529842" y="1"/>
              <a:ext cx="614159" cy="667409"/>
            </a:xfrm>
            <a:custGeom>
              <a:avLst/>
              <a:gdLst>
                <a:gd name="csX0" fmla="*/ 53431 w 614159"/>
                <a:gd name="csY0" fmla="*/ 0 h 667409"/>
                <a:gd name="csX1" fmla="*/ 614159 w 614159"/>
                <a:gd name="csY1" fmla="*/ 0 h 667409"/>
                <a:gd name="csX2" fmla="*/ 614159 w 614159"/>
                <a:gd name="csY2" fmla="*/ 638000 h 667409"/>
                <a:gd name="csX3" fmla="*/ 549342 w 614159"/>
                <a:gd name="csY3" fmla="*/ 658121 h 667409"/>
                <a:gd name="csX4" fmla="*/ 457200 w 614159"/>
                <a:gd name="csY4" fmla="*/ 667409 h 667409"/>
                <a:gd name="csX5" fmla="*/ 0 w 614159"/>
                <a:gd name="csY5" fmla="*/ 210209 h 667409"/>
                <a:gd name="csX6" fmla="*/ 35929 w 614159"/>
                <a:gd name="csY6" fmla="*/ 32246 h 6674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14159" h="667409">
                  <a:moveTo>
                    <a:pt x="53431" y="0"/>
                  </a:moveTo>
                  <a:lnTo>
                    <a:pt x="614159" y="0"/>
                  </a:lnTo>
                  <a:lnTo>
                    <a:pt x="614159" y="638000"/>
                  </a:lnTo>
                  <a:lnTo>
                    <a:pt x="549342" y="658121"/>
                  </a:lnTo>
                  <a:cubicBezTo>
                    <a:pt x="519579" y="664211"/>
                    <a:pt x="488763" y="667409"/>
                    <a:pt x="457200" y="667409"/>
                  </a:cubicBezTo>
                  <a:cubicBezTo>
                    <a:pt x="204695" y="667409"/>
                    <a:pt x="0" y="462714"/>
                    <a:pt x="0" y="210209"/>
                  </a:cubicBezTo>
                  <a:cubicBezTo>
                    <a:pt x="0" y="147083"/>
                    <a:pt x="12793" y="86945"/>
                    <a:pt x="35929" y="32246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EEF865E5-0D3B-C7D4-0EAD-D0123B6B221D}"/>
              </a:ext>
            </a:extLst>
          </p:cNvPr>
          <p:cNvSpPr txBox="1">
            <a:spLocks/>
          </p:cNvSpPr>
          <p:nvPr/>
        </p:nvSpPr>
        <p:spPr>
          <a:xfrm>
            <a:off x="-26125" y="1"/>
            <a:ext cx="5101935" cy="27463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600" b="1">
                <a:ea typeface="宋体"/>
              </a:rPr>
              <a:t>SLAM</a:t>
            </a:r>
            <a:r>
              <a:rPr lang="en-US" sz="1600" b="1"/>
              <a:t> </a:t>
            </a:r>
            <a:r>
              <a:rPr lang="en-US" sz="1600" b="1" noProof="0"/>
              <a:t>Tasks</a:t>
            </a:r>
          </a:p>
        </p:txBody>
      </p:sp>
      <p:sp>
        <p:nvSpPr>
          <p:cNvPr id="4" name="Rechteck: abgerundete Ecken 4">
            <a:extLst>
              <a:ext uri="{FF2B5EF4-FFF2-40B4-BE49-F238E27FC236}">
                <a16:creationId xmlns:a16="http://schemas.microsoft.com/office/drawing/2014/main" id="{7B6AA682-5049-EE06-22B3-AFDA48035F1E}"/>
              </a:ext>
            </a:extLst>
          </p:cNvPr>
          <p:cNvSpPr/>
          <p:nvPr/>
        </p:nvSpPr>
        <p:spPr>
          <a:xfrm>
            <a:off x="459513" y="1062632"/>
            <a:ext cx="8227287" cy="5703038"/>
          </a:xfrm>
          <a:prstGeom prst="roundRect">
            <a:avLst>
              <a:gd name="adj" fmla="val 6005"/>
            </a:avLst>
          </a:prstGeom>
          <a:solidFill>
            <a:srgbClr val="1F45E5">
              <a:alpha val="10980"/>
            </a:srgb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E135400-6922-CAC6-386A-62DC3DBD90C1}"/>
              </a:ext>
            </a:extLst>
          </p:cNvPr>
          <p:cNvSpPr>
            <a:spLocks noGrp="1"/>
          </p:cNvSpPr>
          <p:nvPr/>
        </p:nvSpPr>
        <p:spPr>
          <a:xfrm>
            <a:off x="706743" y="1564425"/>
            <a:ext cx="7680512" cy="24232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/>
            </a:pPr>
            <a:endParaRPr lang="en-US" b="1"/>
          </a:p>
          <a:p>
            <a:pPr>
              <a:defRPr sz="2000"/>
            </a:pPr>
            <a:endParaRPr lang="en-US">
              <a:ea typeface="Calibri"/>
              <a:cs typeface="Calibri"/>
            </a:endParaRPr>
          </a:p>
          <a:p>
            <a:pPr>
              <a:defRPr sz="2000"/>
            </a:pPr>
            <a:endParaRPr lang="en-US" b="1" noProof="0"/>
          </a:p>
          <a:p>
            <a:pPr>
              <a:defRPr sz="2000"/>
            </a:pPr>
            <a:endParaRPr lang="en-US" b="1" noProof="0"/>
          </a:p>
          <a:p>
            <a:pPr marL="0" indent="0">
              <a:buNone/>
              <a:defRPr sz="2000"/>
            </a:pPr>
            <a:r>
              <a:rPr lang="en-US" sz="2800" b="1" noProof="0"/>
              <a:t>		</a:t>
            </a:r>
            <a:r>
              <a:rPr lang="en-US" b="1" noProof="0"/>
              <a:t> </a:t>
            </a:r>
            <a:endParaRPr lang="en-US" b="1" noProof="0">
              <a:ea typeface="Calibri"/>
              <a:cs typeface="Calibri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9774D79-A1EA-F7DC-E3DA-17236E64B54E}"/>
              </a:ext>
            </a:extLst>
          </p:cNvPr>
          <p:cNvSpPr txBox="1">
            <a:spLocks/>
          </p:cNvSpPr>
          <p:nvPr/>
        </p:nvSpPr>
        <p:spPr>
          <a:xfrm>
            <a:off x="457200" y="440022"/>
            <a:ext cx="8229600" cy="114300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>
                <a:solidFill>
                  <a:srgbClr val="1F45E5"/>
                </a:solidFill>
                <a:ea typeface="Calibri"/>
                <a:cs typeface="Calibri"/>
              </a:rPr>
              <a:t>SLAM</a:t>
            </a:r>
            <a:r>
              <a:rPr lang="en-US" sz="3600" b="1">
                <a:solidFill>
                  <a:srgbClr val="1F45E5"/>
                </a:solidFill>
                <a:ea typeface="+mj-lt"/>
                <a:cs typeface="+mj-lt"/>
              </a:rPr>
              <a:t>: Mapping &amp; Localization</a:t>
            </a:r>
            <a:endParaRPr lang="zh-CN" altLang="en-US" b="1" err="1"/>
          </a:p>
        </p:txBody>
      </p:sp>
      <p:pic>
        <p:nvPicPr>
          <p:cNvPr id="2" name="图片 1" descr="图表&#10;&#10;AI 生成的内容可能不正确。">
            <a:extLst>
              <a:ext uri="{FF2B5EF4-FFF2-40B4-BE49-F238E27FC236}">
                <a16:creationId xmlns:a16="http://schemas.microsoft.com/office/drawing/2014/main" id="{FF2067EA-F3E5-2FFF-CAD7-0A6FFE48B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9" y="2623185"/>
            <a:ext cx="3183713" cy="255378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6BDC0B3-5210-130E-F8C4-F6F2E35E34D9}"/>
              </a:ext>
            </a:extLst>
          </p:cNvPr>
          <p:cNvSpPr txBox="1"/>
          <p:nvPr/>
        </p:nvSpPr>
        <p:spPr>
          <a:xfrm>
            <a:off x="713559" y="1281385"/>
            <a:ext cx="7661364" cy="12957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altLang="zh-CN" sz="1700" b="1">
                <a:ea typeface="Calibri"/>
                <a:cs typeface="Calibri"/>
              </a:rPr>
              <a:t>Mapped the arena using </a:t>
            </a:r>
            <a:r>
              <a:rPr lang="en-US" altLang="zh-CN" sz="1700" b="1" err="1">
                <a:ea typeface="Calibri"/>
                <a:cs typeface="Calibri"/>
              </a:rPr>
              <a:t>slam_toolbox</a:t>
            </a:r>
            <a:endParaRPr lang="en-US" altLang="zh-CN" sz="1700" err="1">
              <a:ea typeface="Calibri"/>
              <a:cs typeface="Calibri"/>
            </a:endParaRP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altLang="zh-CN" sz="1700" b="1">
                <a:ea typeface="Calibri"/>
                <a:cs typeface="Calibri"/>
              </a:rPr>
              <a:t>LIDAR scan fused with wheel odometry</a:t>
            </a:r>
            <a:endParaRPr lang="en-US" altLang="zh-CN" sz="1700">
              <a:ea typeface="Calibri"/>
              <a:cs typeface="Calibri"/>
            </a:endParaRP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altLang="zh-CN" sz="1700" b="1">
                <a:ea typeface="Calibri"/>
                <a:cs typeface="Calibri"/>
              </a:rPr>
              <a:t>Map size: 2.25 m × 2.35 m, covering the 2 m × 2 m arena</a:t>
            </a:r>
            <a:endParaRPr lang="en-US" altLang="zh-CN" sz="1700">
              <a:ea typeface="Calibri"/>
              <a:cs typeface="Calibri"/>
            </a:endParaRP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altLang="zh-CN" sz="1700" b="1">
                <a:ea typeface="Calibri"/>
                <a:cs typeface="Calibri"/>
              </a:rPr>
              <a:t>Saved in </a:t>
            </a:r>
            <a:r>
              <a:rPr lang="en-US" altLang="zh-CN" sz="1700" b="1" err="1">
                <a:ea typeface="Calibri"/>
                <a:cs typeface="Calibri"/>
              </a:rPr>
              <a:t>pgm</a:t>
            </a:r>
            <a:r>
              <a:rPr lang="en-US" altLang="zh-CN" sz="1700" b="1">
                <a:ea typeface="Calibri"/>
                <a:cs typeface="Calibri"/>
              </a:rPr>
              <a:t>/</a:t>
            </a:r>
            <a:r>
              <a:rPr lang="en-US" altLang="zh-CN" sz="1700" b="1" err="1">
                <a:ea typeface="Calibri"/>
                <a:cs typeface="Calibri"/>
              </a:rPr>
              <a:t>yaml</a:t>
            </a:r>
            <a:r>
              <a:rPr lang="en-US" altLang="zh-CN" sz="1700" b="1">
                <a:ea typeface="Calibri"/>
                <a:cs typeface="Calibri"/>
              </a:rPr>
              <a:t> + </a:t>
            </a:r>
            <a:r>
              <a:rPr lang="en-US" altLang="zh-CN" sz="1700" b="1" err="1">
                <a:ea typeface="Calibri"/>
                <a:cs typeface="Calibri"/>
              </a:rPr>
              <a:t>posegraph</a:t>
            </a:r>
            <a:r>
              <a:rPr lang="en-US" altLang="zh-CN" sz="1700" b="1">
                <a:ea typeface="Calibri"/>
                <a:cs typeface="Calibri"/>
              </a:rPr>
              <a:t>/data format</a:t>
            </a:r>
            <a:endParaRPr lang="zh-CN"/>
          </a:p>
        </p:txBody>
      </p:sp>
      <p:pic>
        <p:nvPicPr>
          <p:cNvPr id="6" name="图片 5" descr="图片包含 游戏机&#10;&#10;AI 生成的内容可能不正确。">
            <a:extLst>
              <a:ext uri="{FF2B5EF4-FFF2-40B4-BE49-F238E27FC236}">
                <a16:creationId xmlns:a16="http://schemas.microsoft.com/office/drawing/2014/main" id="{85CF456A-D18C-CA7A-76E2-4ADE95D4A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156" y="2589610"/>
            <a:ext cx="2619972" cy="258961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8C9FFA6-9A8D-7D1D-8D88-DFFCD3F42219}"/>
              </a:ext>
            </a:extLst>
          </p:cNvPr>
          <p:cNvSpPr txBox="1"/>
          <p:nvPr/>
        </p:nvSpPr>
        <p:spPr>
          <a:xfrm>
            <a:off x="3494314" y="3135085"/>
            <a:ext cx="2743199" cy="3657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829DDC5-9583-8A49-C47F-8B78C900AF69}"/>
              </a:ext>
            </a:extLst>
          </p:cNvPr>
          <p:cNvSpPr txBox="1"/>
          <p:nvPr/>
        </p:nvSpPr>
        <p:spPr>
          <a:xfrm>
            <a:off x="220435" y="2702378"/>
            <a:ext cx="2743199" cy="3657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17C7AD8-64D7-2674-F1EB-84C626A4CBF1}"/>
              </a:ext>
            </a:extLst>
          </p:cNvPr>
          <p:cNvSpPr txBox="1"/>
          <p:nvPr/>
        </p:nvSpPr>
        <p:spPr>
          <a:xfrm>
            <a:off x="5927271" y="465364"/>
            <a:ext cx="1453242" cy="5878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39A8847-B902-ED00-6D79-0A327BAC3BD4}"/>
              </a:ext>
            </a:extLst>
          </p:cNvPr>
          <p:cNvSpPr txBox="1"/>
          <p:nvPr/>
        </p:nvSpPr>
        <p:spPr>
          <a:xfrm>
            <a:off x="2047059" y="5252118"/>
            <a:ext cx="1202224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1700" b="1">
                <a:ea typeface="Calibri"/>
                <a:cs typeface="Calibri"/>
              </a:rPr>
              <a:t>Slow speed</a:t>
            </a:r>
          </a:p>
        </p:txBody>
      </p:sp>
      <p:sp>
        <p:nvSpPr>
          <p:cNvPr id="16" name="文本框 2">
            <a:extLst>
              <a:ext uri="{FF2B5EF4-FFF2-40B4-BE49-F238E27FC236}">
                <a16:creationId xmlns:a16="http://schemas.microsoft.com/office/drawing/2014/main" id="{B2C2FF2C-222B-A4C4-1BD3-A41712D00C1D}"/>
              </a:ext>
            </a:extLst>
          </p:cNvPr>
          <p:cNvSpPr txBox="1"/>
          <p:nvPr/>
        </p:nvSpPr>
        <p:spPr>
          <a:xfrm>
            <a:off x="5773715" y="5252118"/>
            <a:ext cx="1547505" cy="35394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</a:pPr>
            <a:r>
              <a:rPr lang="en-US" sz="1700" b="1">
                <a:ea typeface="+mn-lt"/>
                <a:cs typeface="+mn-lt"/>
              </a:rPr>
              <a:t>Medium speed</a:t>
            </a:r>
            <a:endParaRPr lang="en-US" altLang="zh-CN" sz="1700" b="1">
              <a:ea typeface="Calibri"/>
              <a:cs typeface="Calibri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A16120-45F0-7BA6-FB57-36C4BA1BA3E3}"/>
              </a:ext>
            </a:extLst>
          </p:cNvPr>
          <p:cNvSpPr txBox="1"/>
          <p:nvPr/>
        </p:nvSpPr>
        <p:spPr>
          <a:xfrm>
            <a:off x="743325" y="5537868"/>
            <a:ext cx="7661364" cy="11910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sz="1700" b="1">
                <a:solidFill>
                  <a:srgbClr val="000000"/>
                </a:solidFill>
                <a:ea typeface="+mn-lt"/>
                <a:cs typeface="+mn-lt"/>
              </a:rPr>
              <a:t>Localization mode: robot loads pre-built map and estimates its position in real time using LIDAR</a:t>
            </a:r>
            <a:endParaRPr lang="en-US" sz="1700" b="1">
              <a:ea typeface="Calibri"/>
              <a:cs typeface="Calibri"/>
            </a:endParaRP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sz="1700" b="1">
                <a:ea typeface="+mn-lt"/>
                <a:cs typeface="+mn-lt"/>
              </a:rPr>
              <a:t>/</a:t>
            </a:r>
            <a:r>
              <a:rPr lang="en-US" sz="1700" b="1" err="1">
                <a:ea typeface="+mn-lt"/>
                <a:cs typeface="+mn-lt"/>
              </a:rPr>
              <a:t>robot_pose</a:t>
            </a:r>
            <a:r>
              <a:rPr lang="en-US" sz="1700" b="1">
                <a:ea typeface="+mn-lt"/>
                <a:cs typeface="+mn-lt"/>
              </a:rPr>
              <a:t> topic: outputs current position (x, y, heading) at 10 Hz → consumed by Nav2</a:t>
            </a:r>
            <a:endParaRPr lang="en-US" sz="1700" b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931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全屏显示(4:3)</PresentationFormat>
  <Slides>8</Slides>
  <Notes>0</Notes>
  <HiddenSlides>0</Hidden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9" baseType="lpstr">
      <vt:lpstr>Office Theme</vt:lpstr>
      <vt:lpstr>Milestone 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Padoa – Zentrale Anforderungen</dc:title>
  <dc:subject/>
  <dc:creator/>
  <cp:keywords/>
  <dc:description>generated using python-pptx</dc:description>
  <cp:revision>2</cp:revision>
  <dcterms:created xsi:type="dcterms:W3CDTF">2013-01-27T09:14:16Z</dcterms:created>
  <dcterms:modified xsi:type="dcterms:W3CDTF">2026-05-13T09:34:02Z</dcterms:modified>
  <cp:category/>
</cp:coreProperties>
</file>